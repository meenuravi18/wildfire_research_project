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3"/>
  </p:notesMasterIdLst>
  <p:handoutMasterIdLst>
    <p:handoutMasterId r:id="rId34"/>
  </p:handoutMasterIdLst>
  <p:sldIdLst>
    <p:sldId id="256" r:id="rId2"/>
    <p:sldId id="257" r:id="rId3"/>
    <p:sldId id="261" r:id="rId4"/>
    <p:sldId id="262" r:id="rId5"/>
    <p:sldId id="259" r:id="rId6"/>
    <p:sldId id="263" r:id="rId7"/>
    <p:sldId id="264" r:id="rId8"/>
    <p:sldId id="265" r:id="rId9"/>
    <p:sldId id="266" r:id="rId10"/>
    <p:sldId id="268" r:id="rId11"/>
    <p:sldId id="267" r:id="rId12"/>
    <p:sldId id="272" r:id="rId13"/>
    <p:sldId id="275" r:id="rId14"/>
    <p:sldId id="270" r:id="rId15"/>
    <p:sldId id="279" r:id="rId16"/>
    <p:sldId id="277" r:id="rId17"/>
    <p:sldId id="276" r:id="rId18"/>
    <p:sldId id="278" r:id="rId19"/>
    <p:sldId id="280" r:id="rId20"/>
    <p:sldId id="281" r:id="rId21"/>
    <p:sldId id="285" r:id="rId22"/>
    <p:sldId id="284" r:id="rId23"/>
    <p:sldId id="287" r:id="rId24"/>
    <p:sldId id="282" r:id="rId25"/>
    <p:sldId id="283" r:id="rId26"/>
    <p:sldId id="288" r:id="rId27"/>
    <p:sldId id="290" r:id="rId28"/>
    <p:sldId id="291" r:id="rId29"/>
    <p:sldId id="292" r:id="rId30"/>
    <p:sldId id="293" r:id="rId31"/>
    <p:sldId id="289"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829"/>
    <p:restoredTop sz="94687"/>
  </p:normalViewPr>
  <p:slideViewPr>
    <p:cSldViewPr snapToGrid="0">
      <p:cViewPr>
        <p:scale>
          <a:sx n="122" d="100"/>
          <a:sy n="122" d="100"/>
        </p:scale>
        <p:origin x="640" y="144"/>
      </p:cViewPr>
      <p:guideLst/>
    </p:cSldViewPr>
  </p:slideViewPr>
  <p:notesTextViewPr>
    <p:cViewPr>
      <p:scale>
        <a:sx n="1" d="1"/>
        <a:sy n="1" d="1"/>
      </p:scale>
      <p:origin x="0" y="0"/>
    </p:cViewPr>
  </p:notesTextViewPr>
  <p:sorterViewPr>
    <p:cViewPr>
      <p:scale>
        <a:sx n="80" d="100"/>
        <a:sy n="80" d="100"/>
      </p:scale>
      <p:origin x="0" y="0"/>
    </p:cViewPr>
  </p:sorterViewPr>
  <p:notesViewPr>
    <p:cSldViewPr snapToGrid="0">
      <p:cViewPr varScale="1">
        <p:scale>
          <a:sx n="98" d="100"/>
          <a:sy n="98" d="100"/>
        </p:scale>
        <p:origin x="3784" y="19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35B4202-A32C-C4E0-021E-869FA48C84A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D4A0F77E-14B2-163B-0A69-8BD0EC5F8E1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0EA9046-7585-B844-B75A-7F159E8CEAFA}" type="datetimeFigureOut">
              <a:rPr lang="en-US" smtClean="0"/>
              <a:t>5/5/26</a:t>
            </a:fld>
            <a:endParaRPr lang="en-US"/>
          </a:p>
        </p:txBody>
      </p:sp>
      <p:sp>
        <p:nvSpPr>
          <p:cNvPr id="4" name="Footer Placeholder 3">
            <a:extLst>
              <a:ext uri="{FF2B5EF4-FFF2-40B4-BE49-F238E27FC236}">
                <a16:creationId xmlns:a16="http://schemas.microsoft.com/office/drawing/2014/main" id="{7FAC114B-EB48-31C5-AE90-281BE4D11D5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BFA637CA-6BF3-3948-FD5A-8A27FF0F9DF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CBBFF7C-19AC-FB44-A6D5-1AA4B645EB08}" type="slidenum">
              <a:rPr lang="en-US" smtClean="0"/>
              <a:t>‹#›</a:t>
            </a:fld>
            <a:endParaRPr lang="en-US"/>
          </a:p>
        </p:txBody>
      </p:sp>
    </p:spTree>
    <p:extLst>
      <p:ext uri="{BB962C8B-B14F-4D97-AF65-F5344CB8AC3E}">
        <p14:creationId xmlns:p14="http://schemas.microsoft.com/office/powerpoint/2010/main" val="368728789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114325E-2C5A-334F-8D76-A1247477FEC3}" type="datetimeFigureOut">
              <a:rPr lang="en-US" smtClean="0"/>
              <a:t>5/5/26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8782AC-B0B8-EC47-9A94-D15041F8A07A}" type="slidenum">
              <a:rPr lang="en-US" smtClean="0"/>
              <a:t>‹#›</a:t>
            </a:fld>
            <a:endParaRPr lang="en-US"/>
          </a:p>
        </p:txBody>
      </p:sp>
    </p:spTree>
    <p:extLst>
      <p:ext uri="{BB962C8B-B14F-4D97-AF65-F5344CB8AC3E}">
        <p14:creationId xmlns:p14="http://schemas.microsoft.com/office/powerpoint/2010/main" val="25852376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98782AC-B0B8-EC47-9A94-D15041F8A07A}" type="slidenum">
              <a:rPr lang="en-US" smtClean="0"/>
              <a:t>14</a:t>
            </a:fld>
            <a:endParaRPr lang="en-US"/>
          </a:p>
        </p:txBody>
      </p:sp>
    </p:spTree>
    <p:extLst>
      <p:ext uri="{BB962C8B-B14F-4D97-AF65-F5344CB8AC3E}">
        <p14:creationId xmlns:p14="http://schemas.microsoft.com/office/powerpoint/2010/main" val="7082798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84BD04-BB4E-68EC-B3A1-7DC4D30E9FA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124D359-DBA3-5972-8E8F-82B6200AC18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2A0B77E-09D1-9736-C573-9D5B9B3C3BDD}"/>
              </a:ext>
            </a:extLst>
          </p:cNvPr>
          <p:cNvSpPr>
            <a:spLocks noGrp="1"/>
          </p:cNvSpPr>
          <p:nvPr>
            <p:ph type="dt" sz="half" idx="10"/>
          </p:nvPr>
        </p:nvSpPr>
        <p:spPr/>
        <p:txBody>
          <a:bodyPr/>
          <a:lstStyle/>
          <a:p>
            <a:fld id="{DE8FD8B2-0A92-C349-9333-5CC94EE76328}" type="datetimeFigureOut">
              <a:rPr lang="en-US" smtClean="0"/>
              <a:t>5/5/26</a:t>
            </a:fld>
            <a:endParaRPr lang="en-US"/>
          </a:p>
        </p:txBody>
      </p:sp>
      <p:sp>
        <p:nvSpPr>
          <p:cNvPr id="5" name="Footer Placeholder 4">
            <a:extLst>
              <a:ext uri="{FF2B5EF4-FFF2-40B4-BE49-F238E27FC236}">
                <a16:creationId xmlns:a16="http://schemas.microsoft.com/office/drawing/2014/main" id="{05F6257E-A34D-31D2-76AA-DA0C5C8953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117CAA-5A04-5FA0-F0DA-1BBDF7BDE2CF}"/>
              </a:ext>
            </a:extLst>
          </p:cNvPr>
          <p:cNvSpPr>
            <a:spLocks noGrp="1"/>
          </p:cNvSpPr>
          <p:nvPr>
            <p:ph type="sldNum" sz="quarter" idx="12"/>
          </p:nvPr>
        </p:nvSpPr>
        <p:spPr/>
        <p:txBody>
          <a:bodyPr/>
          <a:lstStyle/>
          <a:p>
            <a:fld id="{AD55C706-30C5-7745-B8C1-8B12DE6C33F4}" type="slidenum">
              <a:rPr lang="en-US" smtClean="0"/>
              <a:t>‹#›</a:t>
            </a:fld>
            <a:endParaRPr lang="en-US"/>
          </a:p>
        </p:txBody>
      </p:sp>
    </p:spTree>
    <p:extLst>
      <p:ext uri="{BB962C8B-B14F-4D97-AF65-F5344CB8AC3E}">
        <p14:creationId xmlns:p14="http://schemas.microsoft.com/office/powerpoint/2010/main" val="32516327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789518-B464-D310-1409-01C6AD7924A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5A43D4C-7EC7-8B7E-CAC7-433C601BFD9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FF2D00C-68ED-3774-22B3-B04FACCB061F}"/>
              </a:ext>
            </a:extLst>
          </p:cNvPr>
          <p:cNvSpPr>
            <a:spLocks noGrp="1"/>
          </p:cNvSpPr>
          <p:nvPr>
            <p:ph type="dt" sz="half" idx="10"/>
          </p:nvPr>
        </p:nvSpPr>
        <p:spPr/>
        <p:txBody>
          <a:bodyPr/>
          <a:lstStyle/>
          <a:p>
            <a:fld id="{DE8FD8B2-0A92-C349-9333-5CC94EE76328}" type="datetimeFigureOut">
              <a:rPr lang="en-US" smtClean="0"/>
              <a:t>5/5/26</a:t>
            </a:fld>
            <a:endParaRPr lang="en-US"/>
          </a:p>
        </p:txBody>
      </p:sp>
      <p:sp>
        <p:nvSpPr>
          <p:cNvPr id="5" name="Footer Placeholder 4">
            <a:extLst>
              <a:ext uri="{FF2B5EF4-FFF2-40B4-BE49-F238E27FC236}">
                <a16:creationId xmlns:a16="http://schemas.microsoft.com/office/drawing/2014/main" id="{ED40AFF6-4871-1CB7-DC52-29A791657C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E6E1687-7107-A6FD-1B7C-1DB9F35CD09C}"/>
              </a:ext>
            </a:extLst>
          </p:cNvPr>
          <p:cNvSpPr>
            <a:spLocks noGrp="1"/>
          </p:cNvSpPr>
          <p:nvPr>
            <p:ph type="sldNum" sz="quarter" idx="12"/>
          </p:nvPr>
        </p:nvSpPr>
        <p:spPr/>
        <p:txBody>
          <a:bodyPr/>
          <a:lstStyle/>
          <a:p>
            <a:fld id="{AD55C706-30C5-7745-B8C1-8B12DE6C33F4}" type="slidenum">
              <a:rPr lang="en-US" smtClean="0"/>
              <a:t>‹#›</a:t>
            </a:fld>
            <a:endParaRPr lang="en-US"/>
          </a:p>
        </p:txBody>
      </p:sp>
    </p:spTree>
    <p:extLst>
      <p:ext uri="{BB962C8B-B14F-4D97-AF65-F5344CB8AC3E}">
        <p14:creationId xmlns:p14="http://schemas.microsoft.com/office/powerpoint/2010/main" val="14138309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00DFB3-EDDA-3F40-5B2E-CD322D18CBA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392B739-6CA9-70DA-04E6-09E26EC2806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DE10300-5662-32BB-1B90-99E59FB7FD74}"/>
              </a:ext>
            </a:extLst>
          </p:cNvPr>
          <p:cNvSpPr>
            <a:spLocks noGrp="1"/>
          </p:cNvSpPr>
          <p:nvPr>
            <p:ph type="dt" sz="half" idx="10"/>
          </p:nvPr>
        </p:nvSpPr>
        <p:spPr/>
        <p:txBody>
          <a:bodyPr/>
          <a:lstStyle/>
          <a:p>
            <a:fld id="{DE8FD8B2-0A92-C349-9333-5CC94EE76328}" type="datetimeFigureOut">
              <a:rPr lang="en-US" smtClean="0"/>
              <a:t>5/5/26</a:t>
            </a:fld>
            <a:endParaRPr lang="en-US"/>
          </a:p>
        </p:txBody>
      </p:sp>
      <p:sp>
        <p:nvSpPr>
          <p:cNvPr id="5" name="Footer Placeholder 4">
            <a:extLst>
              <a:ext uri="{FF2B5EF4-FFF2-40B4-BE49-F238E27FC236}">
                <a16:creationId xmlns:a16="http://schemas.microsoft.com/office/drawing/2014/main" id="{595712E1-978F-BFA9-E278-17DF2D51FB0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F23AFEE-53CF-EB7E-EE0A-3526FCD4CC35}"/>
              </a:ext>
            </a:extLst>
          </p:cNvPr>
          <p:cNvSpPr>
            <a:spLocks noGrp="1"/>
          </p:cNvSpPr>
          <p:nvPr>
            <p:ph type="sldNum" sz="quarter" idx="12"/>
          </p:nvPr>
        </p:nvSpPr>
        <p:spPr/>
        <p:txBody>
          <a:bodyPr/>
          <a:lstStyle/>
          <a:p>
            <a:fld id="{AD55C706-30C5-7745-B8C1-8B12DE6C33F4}" type="slidenum">
              <a:rPr lang="en-US" smtClean="0"/>
              <a:t>‹#›</a:t>
            </a:fld>
            <a:endParaRPr lang="en-US"/>
          </a:p>
        </p:txBody>
      </p:sp>
    </p:spTree>
    <p:extLst>
      <p:ext uri="{BB962C8B-B14F-4D97-AF65-F5344CB8AC3E}">
        <p14:creationId xmlns:p14="http://schemas.microsoft.com/office/powerpoint/2010/main" val="26541352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A3E84-0C90-E56A-4AC3-0EB2140595B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C57B04-47C2-99E4-5471-8D1CD2AFB6A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62C284D-88AA-A5F0-7438-E560F0EC060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680840C-5EC5-3D97-7275-7632AB8A42AF}"/>
              </a:ext>
            </a:extLst>
          </p:cNvPr>
          <p:cNvSpPr>
            <a:spLocks noGrp="1"/>
          </p:cNvSpPr>
          <p:nvPr>
            <p:ph type="dt" sz="half" idx="10"/>
          </p:nvPr>
        </p:nvSpPr>
        <p:spPr/>
        <p:txBody>
          <a:bodyPr/>
          <a:lstStyle/>
          <a:p>
            <a:fld id="{DE8FD8B2-0A92-C349-9333-5CC94EE76328}" type="datetimeFigureOut">
              <a:rPr lang="en-US" smtClean="0"/>
              <a:t>5/5/26</a:t>
            </a:fld>
            <a:endParaRPr lang="en-US"/>
          </a:p>
        </p:txBody>
      </p:sp>
      <p:sp>
        <p:nvSpPr>
          <p:cNvPr id="6" name="Footer Placeholder 5">
            <a:extLst>
              <a:ext uri="{FF2B5EF4-FFF2-40B4-BE49-F238E27FC236}">
                <a16:creationId xmlns:a16="http://schemas.microsoft.com/office/drawing/2014/main" id="{303D49E3-057A-D74C-E339-8A4467312FE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39F29AC-3297-FC40-F545-807C24E4F85E}"/>
              </a:ext>
            </a:extLst>
          </p:cNvPr>
          <p:cNvSpPr>
            <a:spLocks noGrp="1"/>
          </p:cNvSpPr>
          <p:nvPr>
            <p:ph type="sldNum" sz="quarter" idx="12"/>
          </p:nvPr>
        </p:nvSpPr>
        <p:spPr/>
        <p:txBody>
          <a:bodyPr/>
          <a:lstStyle/>
          <a:p>
            <a:fld id="{AD55C706-30C5-7745-B8C1-8B12DE6C33F4}" type="slidenum">
              <a:rPr lang="en-US" smtClean="0"/>
              <a:t>‹#›</a:t>
            </a:fld>
            <a:endParaRPr lang="en-US"/>
          </a:p>
        </p:txBody>
      </p:sp>
    </p:spTree>
    <p:extLst>
      <p:ext uri="{BB962C8B-B14F-4D97-AF65-F5344CB8AC3E}">
        <p14:creationId xmlns:p14="http://schemas.microsoft.com/office/powerpoint/2010/main" val="5815461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C4ACD0-484F-2C31-BAD8-C316FE91F25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DBB3255-3B71-BE27-48F5-21F93FFC59A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53BE4C7-AA89-4930-B4DF-022CC2B5028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E6DDFC1-4934-317A-CBC8-B7F6BA6EF01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CE972C0-22CF-2EDC-1091-63268A2D06E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A18B0A2-4FEC-DCD3-7495-CB3360605FAB}"/>
              </a:ext>
            </a:extLst>
          </p:cNvPr>
          <p:cNvSpPr>
            <a:spLocks noGrp="1"/>
          </p:cNvSpPr>
          <p:nvPr>
            <p:ph type="dt" sz="half" idx="10"/>
          </p:nvPr>
        </p:nvSpPr>
        <p:spPr/>
        <p:txBody>
          <a:bodyPr/>
          <a:lstStyle/>
          <a:p>
            <a:fld id="{DE8FD8B2-0A92-C349-9333-5CC94EE76328}" type="datetimeFigureOut">
              <a:rPr lang="en-US" smtClean="0"/>
              <a:t>5/5/26</a:t>
            </a:fld>
            <a:endParaRPr lang="en-US"/>
          </a:p>
        </p:txBody>
      </p:sp>
      <p:sp>
        <p:nvSpPr>
          <p:cNvPr id="8" name="Footer Placeholder 7">
            <a:extLst>
              <a:ext uri="{FF2B5EF4-FFF2-40B4-BE49-F238E27FC236}">
                <a16:creationId xmlns:a16="http://schemas.microsoft.com/office/drawing/2014/main" id="{C1F52E8C-D7F0-AE98-5944-5255C33A04A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88ECE6E-DF6D-BC14-AB19-686D68420B28}"/>
              </a:ext>
            </a:extLst>
          </p:cNvPr>
          <p:cNvSpPr>
            <a:spLocks noGrp="1"/>
          </p:cNvSpPr>
          <p:nvPr>
            <p:ph type="sldNum" sz="quarter" idx="12"/>
          </p:nvPr>
        </p:nvSpPr>
        <p:spPr/>
        <p:txBody>
          <a:bodyPr/>
          <a:lstStyle/>
          <a:p>
            <a:fld id="{AD55C706-30C5-7745-B8C1-8B12DE6C33F4}" type="slidenum">
              <a:rPr lang="en-US" smtClean="0"/>
              <a:t>‹#›</a:t>
            </a:fld>
            <a:endParaRPr lang="en-US"/>
          </a:p>
        </p:txBody>
      </p:sp>
    </p:spTree>
    <p:extLst>
      <p:ext uri="{BB962C8B-B14F-4D97-AF65-F5344CB8AC3E}">
        <p14:creationId xmlns:p14="http://schemas.microsoft.com/office/powerpoint/2010/main" val="9281239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111BD5-5E8D-D522-7F63-E8CF3164296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E5822E6-E58A-2ADB-974C-A2E40779D66C}"/>
              </a:ext>
            </a:extLst>
          </p:cNvPr>
          <p:cNvSpPr>
            <a:spLocks noGrp="1"/>
          </p:cNvSpPr>
          <p:nvPr>
            <p:ph type="dt" sz="half" idx="10"/>
          </p:nvPr>
        </p:nvSpPr>
        <p:spPr/>
        <p:txBody>
          <a:bodyPr/>
          <a:lstStyle/>
          <a:p>
            <a:fld id="{DE8FD8B2-0A92-C349-9333-5CC94EE76328}" type="datetimeFigureOut">
              <a:rPr lang="en-US" smtClean="0"/>
              <a:t>5/5/26</a:t>
            </a:fld>
            <a:endParaRPr lang="en-US"/>
          </a:p>
        </p:txBody>
      </p:sp>
      <p:sp>
        <p:nvSpPr>
          <p:cNvPr id="4" name="Footer Placeholder 3">
            <a:extLst>
              <a:ext uri="{FF2B5EF4-FFF2-40B4-BE49-F238E27FC236}">
                <a16:creationId xmlns:a16="http://schemas.microsoft.com/office/drawing/2014/main" id="{C4B8830A-BBEE-B638-E9FB-4308A6BE478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4200FCF-43B9-B2E4-143A-78EC3281B62D}"/>
              </a:ext>
            </a:extLst>
          </p:cNvPr>
          <p:cNvSpPr>
            <a:spLocks noGrp="1"/>
          </p:cNvSpPr>
          <p:nvPr>
            <p:ph type="sldNum" sz="quarter" idx="12"/>
          </p:nvPr>
        </p:nvSpPr>
        <p:spPr/>
        <p:txBody>
          <a:bodyPr/>
          <a:lstStyle/>
          <a:p>
            <a:fld id="{AD55C706-30C5-7745-B8C1-8B12DE6C33F4}" type="slidenum">
              <a:rPr lang="en-US" smtClean="0"/>
              <a:t>‹#›</a:t>
            </a:fld>
            <a:endParaRPr lang="en-US"/>
          </a:p>
        </p:txBody>
      </p:sp>
    </p:spTree>
    <p:extLst>
      <p:ext uri="{BB962C8B-B14F-4D97-AF65-F5344CB8AC3E}">
        <p14:creationId xmlns:p14="http://schemas.microsoft.com/office/powerpoint/2010/main" val="825342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7FE3D64-80ED-C26B-D036-B611358C05E1}"/>
              </a:ext>
            </a:extLst>
          </p:cNvPr>
          <p:cNvSpPr>
            <a:spLocks noGrp="1"/>
          </p:cNvSpPr>
          <p:nvPr>
            <p:ph type="dt" sz="half" idx="10"/>
          </p:nvPr>
        </p:nvSpPr>
        <p:spPr/>
        <p:txBody>
          <a:bodyPr/>
          <a:lstStyle/>
          <a:p>
            <a:fld id="{DE8FD8B2-0A92-C349-9333-5CC94EE76328}" type="datetimeFigureOut">
              <a:rPr lang="en-US" smtClean="0"/>
              <a:t>5/5/26</a:t>
            </a:fld>
            <a:endParaRPr lang="en-US"/>
          </a:p>
        </p:txBody>
      </p:sp>
      <p:sp>
        <p:nvSpPr>
          <p:cNvPr id="3" name="Footer Placeholder 2">
            <a:extLst>
              <a:ext uri="{FF2B5EF4-FFF2-40B4-BE49-F238E27FC236}">
                <a16:creationId xmlns:a16="http://schemas.microsoft.com/office/drawing/2014/main" id="{CCBA003F-61DA-7F49-A912-830BE690CC6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FDA9877-758F-0FDE-4B2D-527DF62C9DC6}"/>
              </a:ext>
            </a:extLst>
          </p:cNvPr>
          <p:cNvSpPr>
            <a:spLocks noGrp="1"/>
          </p:cNvSpPr>
          <p:nvPr>
            <p:ph type="sldNum" sz="quarter" idx="12"/>
          </p:nvPr>
        </p:nvSpPr>
        <p:spPr/>
        <p:txBody>
          <a:bodyPr/>
          <a:lstStyle/>
          <a:p>
            <a:fld id="{AD55C706-30C5-7745-B8C1-8B12DE6C33F4}" type="slidenum">
              <a:rPr lang="en-US" smtClean="0"/>
              <a:t>‹#›</a:t>
            </a:fld>
            <a:endParaRPr lang="en-US"/>
          </a:p>
        </p:txBody>
      </p:sp>
    </p:spTree>
    <p:extLst>
      <p:ext uri="{BB962C8B-B14F-4D97-AF65-F5344CB8AC3E}">
        <p14:creationId xmlns:p14="http://schemas.microsoft.com/office/powerpoint/2010/main" val="30125528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021BEF-5D64-5C8B-5260-72F9C139BDB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B3845CC-89BB-F9F0-42A5-2BE24B50839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EC77D4E-7325-F06B-C9EF-31D61B1B144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0AF9845-18BD-BACB-8645-BC69AF191174}"/>
              </a:ext>
            </a:extLst>
          </p:cNvPr>
          <p:cNvSpPr>
            <a:spLocks noGrp="1"/>
          </p:cNvSpPr>
          <p:nvPr>
            <p:ph type="dt" sz="half" idx="10"/>
          </p:nvPr>
        </p:nvSpPr>
        <p:spPr/>
        <p:txBody>
          <a:bodyPr/>
          <a:lstStyle/>
          <a:p>
            <a:fld id="{DE8FD8B2-0A92-C349-9333-5CC94EE76328}" type="datetimeFigureOut">
              <a:rPr lang="en-US" smtClean="0"/>
              <a:t>5/5/26</a:t>
            </a:fld>
            <a:endParaRPr lang="en-US"/>
          </a:p>
        </p:txBody>
      </p:sp>
      <p:sp>
        <p:nvSpPr>
          <p:cNvPr id="6" name="Footer Placeholder 5">
            <a:extLst>
              <a:ext uri="{FF2B5EF4-FFF2-40B4-BE49-F238E27FC236}">
                <a16:creationId xmlns:a16="http://schemas.microsoft.com/office/drawing/2014/main" id="{ECD024F8-0FBB-C7ED-B94F-565C8ED9558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A50E933-7452-B738-9F54-2831D85FE751}"/>
              </a:ext>
            </a:extLst>
          </p:cNvPr>
          <p:cNvSpPr>
            <a:spLocks noGrp="1"/>
          </p:cNvSpPr>
          <p:nvPr>
            <p:ph type="sldNum" sz="quarter" idx="12"/>
          </p:nvPr>
        </p:nvSpPr>
        <p:spPr/>
        <p:txBody>
          <a:bodyPr/>
          <a:lstStyle/>
          <a:p>
            <a:fld id="{AD55C706-30C5-7745-B8C1-8B12DE6C33F4}" type="slidenum">
              <a:rPr lang="en-US" smtClean="0"/>
              <a:t>‹#›</a:t>
            </a:fld>
            <a:endParaRPr lang="en-US"/>
          </a:p>
        </p:txBody>
      </p:sp>
    </p:spTree>
    <p:extLst>
      <p:ext uri="{BB962C8B-B14F-4D97-AF65-F5344CB8AC3E}">
        <p14:creationId xmlns:p14="http://schemas.microsoft.com/office/powerpoint/2010/main" val="35639243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590935-22F8-6BC9-C165-DB450CE21BE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19AC6A1-44A8-8CFD-4E51-8CAA658EC98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FB3708B-54D1-19FA-6C0A-D8482F01253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CE5E6E1-4826-E003-77DA-F9C80E1515FA}"/>
              </a:ext>
            </a:extLst>
          </p:cNvPr>
          <p:cNvSpPr>
            <a:spLocks noGrp="1"/>
          </p:cNvSpPr>
          <p:nvPr>
            <p:ph type="dt" sz="half" idx="10"/>
          </p:nvPr>
        </p:nvSpPr>
        <p:spPr/>
        <p:txBody>
          <a:bodyPr/>
          <a:lstStyle/>
          <a:p>
            <a:fld id="{DE8FD8B2-0A92-C349-9333-5CC94EE76328}" type="datetimeFigureOut">
              <a:rPr lang="en-US" smtClean="0"/>
              <a:t>5/5/26</a:t>
            </a:fld>
            <a:endParaRPr lang="en-US"/>
          </a:p>
        </p:txBody>
      </p:sp>
      <p:sp>
        <p:nvSpPr>
          <p:cNvPr id="6" name="Footer Placeholder 5">
            <a:extLst>
              <a:ext uri="{FF2B5EF4-FFF2-40B4-BE49-F238E27FC236}">
                <a16:creationId xmlns:a16="http://schemas.microsoft.com/office/drawing/2014/main" id="{7D77BA8A-AA4D-E4CE-3972-464D00F4650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72FFE4B-BCE2-FCAA-9069-6C64FA898030}"/>
              </a:ext>
            </a:extLst>
          </p:cNvPr>
          <p:cNvSpPr>
            <a:spLocks noGrp="1"/>
          </p:cNvSpPr>
          <p:nvPr>
            <p:ph type="sldNum" sz="quarter" idx="12"/>
          </p:nvPr>
        </p:nvSpPr>
        <p:spPr/>
        <p:txBody>
          <a:bodyPr/>
          <a:lstStyle/>
          <a:p>
            <a:fld id="{AD55C706-30C5-7745-B8C1-8B12DE6C33F4}" type="slidenum">
              <a:rPr lang="en-US" smtClean="0"/>
              <a:t>‹#›</a:t>
            </a:fld>
            <a:endParaRPr lang="en-US"/>
          </a:p>
        </p:txBody>
      </p:sp>
    </p:spTree>
    <p:extLst>
      <p:ext uri="{BB962C8B-B14F-4D97-AF65-F5344CB8AC3E}">
        <p14:creationId xmlns:p14="http://schemas.microsoft.com/office/powerpoint/2010/main" val="15473382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46443D-E7AE-D900-32AC-A94C4DB461E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9301F55-4735-1C0E-0154-446F864FA58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3E519FF-BA85-59EF-5D33-0F9345427856}"/>
              </a:ext>
            </a:extLst>
          </p:cNvPr>
          <p:cNvSpPr>
            <a:spLocks noGrp="1"/>
          </p:cNvSpPr>
          <p:nvPr>
            <p:ph type="dt" sz="half" idx="10"/>
          </p:nvPr>
        </p:nvSpPr>
        <p:spPr/>
        <p:txBody>
          <a:bodyPr/>
          <a:lstStyle/>
          <a:p>
            <a:fld id="{DE8FD8B2-0A92-C349-9333-5CC94EE76328}" type="datetimeFigureOut">
              <a:rPr lang="en-US" smtClean="0"/>
              <a:t>5/5/26</a:t>
            </a:fld>
            <a:endParaRPr lang="en-US"/>
          </a:p>
        </p:txBody>
      </p:sp>
      <p:sp>
        <p:nvSpPr>
          <p:cNvPr id="5" name="Footer Placeholder 4">
            <a:extLst>
              <a:ext uri="{FF2B5EF4-FFF2-40B4-BE49-F238E27FC236}">
                <a16:creationId xmlns:a16="http://schemas.microsoft.com/office/drawing/2014/main" id="{6E3A1846-EE30-F223-FABE-E51C1C3EDE7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A87EFF1-8B26-B18C-1D89-FF7E85333821}"/>
              </a:ext>
            </a:extLst>
          </p:cNvPr>
          <p:cNvSpPr>
            <a:spLocks noGrp="1"/>
          </p:cNvSpPr>
          <p:nvPr>
            <p:ph type="sldNum" sz="quarter" idx="12"/>
          </p:nvPr>
        </p:nvSpPr>
        <p:spPr/>
        <p:txBody>
          <a:bodyPr/>
          <a:lstStyle/>
          <a:p>
            <a:fld id="{AD55C706-30C5-7745-B8C1-8B12DE6C33F4}" type="slidenum">
              <a:rPr lang="en-US" smtClean="0"/>
              <a:t>‹#›</a:t>
            </a:fld>
            <a:endParaRPr lang="en-US"/>
          </a:p>
        </p:txBody>
      </p:sp>
    </p:spTree>
    <p:extLst>
      <p:ext uri="{BB962C8B-B14F-4D97-AF65-F5344CB8AC3E}">
        <p14:creationId xmlns:p14="http://schemas.microsoft.com/office/powerpoint/2010/main" val="30413619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5D0ED7E-8CE2-2A00-C7CB-5C0DA3E5765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0F82370-EE66-9AD5-6A2B-FE0BCED1955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7D04AC3-163D-431A-305D-1DE9DFE51B43}"/>
              </a:ext>
            </a:extLst>
          </p:cNvPr>
          <p:cNvSpPr>
            <a:spLocks noGrp="1"/>
          </p:cNvSpPr>
          <p:nvPr>
            <p:ph type="dt" sz="half" idx="10"/>
          </p:nvPr>
        </p:nvSpPr>
        <p:spPr/>
        <p:txBody>
          <a:bodyPr/>
          <a:lstStyle/>
          <a:p>
            <a:fld id="{DE8FD8B2-0A92-C349-9333-5CC94EE76328}" type="datetimeFigureOut">
              <a:rPr lang="en-US" smtClean="0"/>
              <a:t>5/5/26</a:t>
            </a:fld>
            <a:endParaRPr lang="en-US"/>
          </a:p>
        </p:txBody>
      </p:sp>
      <p:sp>
        <p:nvSpPr>
          <p:cNvPr id="5" name="Footer Placeholder 4">
            <a:extLst>
              <a:ext uri="{FF2B5EF4-FFF2-40B4-BE49-F238E27FC236}">
                <a16:creationId xmlns:a16="http://schemas.microsoft.com/office/drawing/2014/main" id="{85878D66-9C8C-91B2-BB54-A911FCBDA99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A4973E1-F733-D471-6EDF-DACDF376B9A0}"/>
              </a:ext>
            </a:extLst>
          </p:cNvPr>
          <p:cNvSpPr>
            <a:spLocks noGrp="1"/>
          </p:cNvSpPr>
          <p:nvPr>
            <p:ph type="sldNum" sz="quarter" idx="12"/>
          </p:nvPr>
        </p:nvSpPr>
        <p:spPr/>
        <p:txBody>
          <a:bodyPr/>
          <a:lstStyle/>
          <a:p>
            <a:fld id="{AD55C706-30C5-7745-B8C1-8B12DE6C33F4}" type="slidenum">
              <a:rPr lang="en-US" smtClean="0"/>
              <a:t>‹#›</a:t>
            </a:fld>
            <a:endParaRPr lang="en-US"/>
          </a:p>
        </p:txBody>
      </p:sp>
    </p:spTree>
    <p:extLst>
      <p:ext uri="{BB962C8B-B14F-4D97-AF65-F5344CB8AC3E}">
        <p14:creationId xmlns:p14="http://schemas.microsoft.com/office/powerpoint/2010/main" val="18835447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9BAEA15-D0B1-F0A7-BA5D-65147C7616A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8C9D1EA-B40D-30BF-A736-B9429511EE7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A2ED8DC-DDFB-0ED4-3FE9-1613FF2DB89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E8FD8B2-0A92-C349-9333-5CC94EE76328}" type="datetimeFigureOut">
              <a:rPr lang="en-US" smtClean="0"/>
              <a:t>5/5/26</a:t>
            </a:fld>
            <a:endParaRPr lang="en-US"/>
          </a:p>
        </p:txBody>
      </p:sp>
      <p:sp>
        <p:nvSpPr>
          <p:cNvPr id="5" name="Footer Placeholder 4">
            <a:extLst>
              <a:ext uri="{FF2B5EF4-FFF2-40B4-BE49-F238E27FC236}">
                <a16:creationId xmlns:a16="http://schemas.microsoft.com/office/drawing/2014/main" id="{76374647-9428-0B87-1316-2F4DDAEB28A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D909291-9A09-3326-9743-09BA8B4DC95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D55C706-30C5-7745-B8C1-8B12DE6C33F4}" type="slidenum">
              <a:rPr lang="en-US" smtClean="0"/>
              <a:t>‹#›</a:t>
            </a:fld>
            <a:endParaRPr lang="en-US"/>
          </a:p>
        </p:txBody>
      </p:sp>
    </p:spTree>
    <p:extLst>
      <p:ext uri="{BB962C8B-B14F-4D97-AF65-F5344CB8AC3E}">
        <p14:creationId xmlns:p14="http://schemas.microsoft.com/office/powerpoint/2010/main" val="26589000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3" Type="http://schemas.openxmlformats.org/officeDocument/2006/relationships/hyperlink" Target="https://wildfirepartners.org/general-faq/" TargetMode="External"/><Relationship Id="rId18" Type="http://schemas.openxmlformats.org/officeDocument/2006/relationships/hyperlink" Target="https://extension.oregonstate.edu/catalog/em-9193-fire-faqs-managing-wildfire-resource-benefit" TargetMode="External"/><Relationship Id="rId26" Type="http://schemas.openxmlformats.org/officeDocument/2006/relationships/hyperlink" Target="https://des.mt.gov/Preparedness/Wildfire-Season-Resources" TargetMode="External"/><Relationship Id="rId3" Type="http://schemas.openxmlformats.org/officeDocument/2006/relationships/hyperlink" Target="https://lao.ca.gov/Publications/Report/4952" TargetMode="External"/><Relationship Id="rId21" Type="http://schemas.openxmlformats.org/officeDocument/2006/relationships/hyperlink" Target="https://www.wildfirela.org/2025/01/17/before-you-can-go-home-after-the-fires/" TargetMode="External"/><Relationship Id="rId7" Type="http://schemas.openxmlformats.org/officeDocument/2006/relationships/hyperlink" Target="https://hsph.harvard.edu/environmental-health/news/health-impacts-of-wildfires-frequently-asked-questions/" TargetMode="External"/><Relationship Id="rId12" Type="http://schemas.openxmlformats.org/officeDocument/2006/relationships/hyperlink" Target="https://sharedsystems.dhsoha.state.or.us/DHSForms/Served/le8626.pdf" TargetMode="External"/><Relationship Id="rId17" Type="http://schemas.openxmlformats.org/officeDocument/2006/relationships/hyperlink" Target="https://theodorepayne.org/wildfire-faq/" TargetMode="External"/><Relationship Id="rId25" Type="http://schemas.openxmlformats.org/officeDocument/2006/relationships/hyperlink" Target="https://coloradosprings.gov/WildfireReady" TargetMode="External"/><Relationship Id="rId33" Type="http://schemas.openxmlformats.org/officeDocument/2006/relationships/hyperlink" Target="file:///Users/meenuravi/Downloads/wildfire-smoke-faq-pdf-en.pdf" TargetMode="External"/><Relationship Id="rId2" Type="http://schemas.openxmlformats.org/officeDocument/2006/relationships/hyperlink" Target="https://www.nfpa.org/news-blogs-and-articles/blogs/2025/01/15/los-angeles-wildfires-frequently-asked-questions" TargetMode="External"/><Relationship Id="rId16" Type="http://schemas.openxmlformats.org/officeDocument/2006/relationships/hyperlink" Target="https://www.pscleanair.gov/m/faq?cat=32" TargetMode="External"/><Relationship Id="rId20" Type="http://schemas.openxmlformats.org/officeDocument/2006/relationships/hyperlink" Target="https://cityofpetaluma.org/wildfire-faqs/" TargetMode="External"/><Relationship Id="rId29" Type="http://schemas.openxmlformats.org/officeDocument/2006/relationships/hyperlink" Target="https://www.worldvision.org/disaster-relief-news-stories/wildfires-facts-faqs-how-to-help" TargetMode="External"/><Relationship Id="rId1" Type="http://schemas.openxmlformats.org/officeDocument/2006/relationships/slideLayout" Target="../slideLayouts/slideLayout2.xml"/><Relationship Id="rId6" Type="http://schemas.openxmlformats.org/officeDocument/2006/relationships/hyperlink" Target="https://www.ucdavis.edu/climate/definitions/wildfire/8-wildfire-questions" TargetMode="External"/><Relationship Id="rId11" Type="http://schemas.openxmlformats.org/officeDocument/2006/relationships/hyperlink" Target="https://www.worldvision.org/disaster-relief-news-stories/california-fires-facts-faqs-how-to-help" TargetMode="External"/><Relationship Id="rId24" Type="http://schemas.openxmlformats.org/officeDocument/2006/relationships/hyperlink" Target="https://ndresponse.gov/wildfire-faq" TargetMode="External"/><Relationship Id="rId32" Type="http://schemas.openxmlformats.org/officeDocument/2006/relationships/hyperlink" Target="https://www.elementalfilm.com/faqs" TargetMode="External"/><Relationship Id="rId5" Type="http://schemas.openxmlformats.org/officeDocument/2006/relationships/hyperlink" Target="https://www.psu.edu/news/research/story/qa-causes-spread-and-solutions-californias-wildfire-crisis" TargetMode="External"/><Relationship Id="rId15" Type="http://schemas.openxmlformats.org/officeDocument/2006/relationships/hyperlink" Target="https://srhd.org/health-topics/environmental-health/wildfire-smoke/air-quality-wildfire-faq" TargetMode="External"/><Relationship Id="rId23" Type="http://schemas.openxmlformats.org/officeDocument/2006/relationships/hyperlink" Target="http://publichealth.lacounty.gov/media/wildfire/faq.htm" TargetMode="External"/><Relationship Id="rId28" Type="http://schemas.openxmlformats.org/officeDocument/2006/relationships/hyperlink" Target="https://www.dir.ca.gov/dosh/wildfire/wildfire-faq.html" TargetMode="External"/><Relationship Id="rId10" Type="http://schemas.openxmlformats.org/officeDocument/2006/relationships/hyperlink" Target="https://azdeq.gov/wildfire-faqs" TargetMode="External"/><Relationship Id="rId19" Type="http://schemas.openxmlformats.org/officeDocument/2006/relationships/hyperlink" Target="https://vifr.org/wildland-fire-safety/" TargetMode="External"/><Relationship Id="rId31" Type="http://schemas.openxmlformats.org/officeDocument/2006/relationships/hyperlink" Target="https://help.firststreet.org/hc/en-us/articles/5720773111063-Community-Wildfire-Risk-FAQ" TargetMode="External"/><Relationship Id="rId4" Type="http://schemas.openxmlformats.org/officeDocument/2006/relationships/hyperlink" Target="https://nhmu.utah.edu/sites/default/files/attachments/Wildfire%20FAQs.pdf" TargetMode="External"/><Relationship Id="rId9" Type="http://schemas.openxmlformats.org/officeDocument/2006/relationships/hyperlink" Target="https://www.montecitofire.com/wildfire-prevention-preparedness-frequently-asked-questions" TargetMode="External"/><Relationship Id="rId14" Type="http://schemas.openxmlformats.org/officeDocument/2006/relationships/hyperlink" Target="https://www.aspenfire.com/wildfire-faq" TargetMode="External"/><Relationship Id="rId22" Type="http://schemas.openxmlformats.org/officeDocument/2006/relationships/hyperlink" Target="https://www.pa.gov/agencies/dcnr/programs-and-services/community-outreach-and-development/wildfire" TargetMode="External"/><Relationship Id="rId27" Type="http://schemas.openxmlformats.org/officeDocument/2006/relationships/hyperlink" Target="https://www.cawildfirefund.com/sites/wildfire/files/documents/2025/cwf-media-explainer-terms-and-questions-march-2025.pdf" TargetMode="External"/><Relationship Id="rId30" Type="http://schemas.openxmlformats.org/officeDocument/2006/relationships/hyperlink" Target="https://permitsonoma.org/wildfireadapted-faq" TargetMode="External"/><Relationship Id="rId8" Type="http://schemas.openxmlformats.org/officeDocument/2006/relationships/hyperlink" Target="https://dec.alaska.gov/air/smoke-faq/"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hyperlink" Target="https://arxiv.org/html/2410.14155v2" TargetMode="External"/><Relationship Id="rId2" Type="http://schemas.openxmlformats.org/officeDocument/2006/relationships/hyperlink" Target="https://aclanthology.org/2025.emnlp-main.813.pdf" TargetMode="External"/><Relationship Id="rId1" Type="http://schemas.openxmlformats.org/officeDocument/2006/relationships/slideLayout" Target="../slideLayouts/slideLayout2.xml"/><Relationship Id="rId4" Type="http://schemas.openxmlformats.org/officeDocument/2006/relationships/hyperlink" Target="https://arxiv.org/pdf/2601.12626"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AEB441-2A26-0500-A798-E95422C0F0CB}"/>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F8B2BC23-2145-2430-0D7A-80880C2E450B}"/>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8913280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7AFA57-146A-A112-967F-E1DC246EF587}"/>
              </a:ext>
            </a:extLst>
          </p:cNvPr>
          <p:cNvSpPr>
            <a:spLocks noGrp="1"/>
          </p:cNvSpPr>
          <p:nvPr>
            <p:ph type="title"/>
          </p:nvPr>
        </p:nvSpPr>
        <p:spPr>
          <a:xfrm>
            <a:off x="838200" y="365126"/>
            <a:ext cx="10515600" cy="644968"/>
          </a:xfrm>
        </p:spPr>
        <p:txBody>
          <a:bodyPr>
            <a:normAutofit fontScale="90000"/>
          </a:bodyPr>
          <a:lstStyle/>
          <a:p>
            <a:r>
              <a:rPr lang="en-US" dirty="0"/>
              <a:t>Wildfire Q and A Links</a:t>
            </a:r>
          </a:p>
        </p:txBody>
      </p:sp>
      <p:sp>
        <p:nvSpPr>
          <p:cNvPr id="3" name="Content Placeholder 2">
            <a:extLst>
              <a:ext uri="{FF2B5EF4-FFF2-40B4-BE49-F238E27FC236}">
                <a16:creationId xmlns:a16="http://schemas.microsoft.com/office/drawing/2014/main" id="{26A8DEDF-0A15-7AB5-3C8D-C2D9825B7B74}"/>
              </a:ext>
            </a:extLst>
          </p:cNvPr>
          <p:cNvSpPr>
            <a:spLocks noGrp="1"/>
          </p:cNvSpPr>
          <p:nvPr>
            <p:ph idx="1"/>
          </p:nvPr>
        </p:nvSpPr>
        <p:spPr>
          <a:xfrm>
            <a:off x="838200" y="1169581"/>
            <a:ext cx="4743893" cy="5007382"/>
          </a:xfrm>
        </p:spPr>
        <p:txBody>
          <a:bodyPr>
            <a:normAutofit fontScale="92500" lnSpcReduction="10000"/>
          </a:bodyPr>
          <a:lstStyle/>
          <a:p>
            <a:pPr>
              <a:spcBef>
                <a:spcPts val="600"/>
              </a:spcBef>
            </a:pPr>
            <a:r>
              <a:rPr lang="en-US" sz="1200" dirty="0">
                <a:solidFill>
                  <a:schemeClr val="tx2">
                    <a:lumMod val="75000"/>
                    <a:lumOff val="25000"/>
                  </a:schemeClr>
                </a:solidFill>
                <a:hlinkClick r:id="rId2">
                  <a:extLst>
                    <a:ext uri="{A12FA001-AC4F-418D-AE19-62706E023703}">
                      <ahyp:hlinkClr xmlns:ahyp="http://schemas.microsoft.com/office/drawing/2018/hyperlinkcolor" val="tx"/>
                    </a:ext>
                  </a:extLst>
                </a:hlinkClick>
              </a:rPr>
              <a:t>https://www.nfpa.org/news-blogs-and-articles/blogs/2025/01/15/los-angeles-wildfires-frequently-asked-questions</a:t>
            </a:r>
            <a:endParaRPr lang="en-US" sz="1200" dirty="0">
              <a:solidFill>
                <a:schemeClr val="tx2">
                  <a:lumMod val="75000"/>
                  <a:lumOff val="25000"/>
                </a:schemeClr>
              </a:solidFill>
            </a:endParaRPr>
          </a:p>
          <a:p>
            <a:pPr>
              <a:spcBef>
                <a:spcPts val="600"/>
              </a:spcBef>
            </a:pPr>
            <a:r>
              <a:rPr lang="en-US" sz="1200" dirty="0">
                <a:solidFill>
                  <a:schemeClr val="tx2">
                    <a:lumMod val="75000"/>
                    <a:lumOff val="25000"/>
                  </a:schemeClr>
                </a:solidFill>
                <a:hlinkClick r:id="rId3">
                  <a:extLst>
                    <a:ext uri="{A12FA001-AC4F-418D-AE19-62706E023703}">
                      <ahyp:hlinkClr xmlns:ahyp="http://schemas.microsoft.com/office/drawing/2018/hyperlinkcolor" val="tx"/>
                    </a:ext>
                  </a:extLst>
                </a:hlinkClick>
              </a:rPr>
              <a:t>https://lao.ca.gov/Publications/Report/4952</a:t>
            </a:r>
            <a:endParaRPr lang="en-US" sz="1200" dirty="0">
              <a:solidFill>
                <a:schemeClr val="tx2">
                  <a:lumMod val="75000"/>
                  <a:lumOff val="25000"/>
                </a:schemeClr>
              </a:solidFill>
            </a:endParaRPr>
          </a:p>
          <a:p>
            <a:pPr>
              <a:spcBef>
                <a:spcPts val="600"/>
              </a:spcBef>
            </a:pPr>
            <a:r>
              <a:rPr lang="en-US" sz="1200" dirty="0">
                <a:solidFill>
                  <a:schemeClr val="tx2">
                    <a:lumMod val="75000"/>
                    <a:lumOff val="25000"/>
                  </a:schemeClr>
                </a:solidFill>
                <a:hlinkClick r:id="rId4">
                  <a:extLst>
                    <a:ext uri="{A12FA001-AC4F-418D-AE19-62706E023703}">
                      <ahyp:hlinkClr xmlns:ahyp="http://schemas.microsoft.com/office/drawing/2018/hyperlinkcolor" val="tx"/>
                    </a:ext>
                  </a:extLst>
                </a:hlinkClick>
              </a:rPr>
              <a:t>https://nhmu.utah.edu/sites/default/files/attachments/Wildfire%20FAQs.pdf</a:t>
            </a:r>
            <a:endParaRPr lang="en-US" sz="1200" dirty="0">
              <a:solidFill>
                <a:schemeClr val="tx2">
                  <a:lumMod val="75000"/>
                  <a:lumOff val="25000"/>
                </a:schemeClr>
              </a:solidFill>
            </a:endParaRPr>
          </a:p>
          <a:p>
            <a:pPr>
              <a:spcBef>
                <a:spcPts val="600"/>
              </a:spcBef>
            </a:pPr>
            <a:r>
              <a:rPr lang="en-US" sz="1200" dirty="0">
                <a:solidFill>
                  <a:schemeClr val="tx2">
                    <a:lumMod val="75000"/>
                    <a:lumOff val="25000"/>
                  </a:schemeClr>
                </a:solidFill>
                <a:hlinkClick r:id="rId5">
                  <a:extLst>
                    <a:ext uri="{A12FA001-AC4F-418D-AE19-62706E023703}">
                      <ahyp:hlinkClr xmlns:ahyp="http://schemas.microsoft.com/office/drawing/2018/hyperlinkcolor" val="tx"/>
                    </a:ext>
                  </a:extLst>
                </a:hlinkClick>
              </a:rPr>
              <a:t>https://www.psu.edu/news/research/story/qa-causes-spread-and-solutions-californias-wildfire-crisis</a:t>
            </a:r>
            <a:endParaRPr lang="en-US" sz="1200" dirty="0">
              <a:solidFill>
                <a:schemeClr val="tx2">
                  <a:lumMod val="75000"/>
                  <a:lumOff val="25000"/>
                </a:schemeClr>
              </a:solidFill>
            </a:endParaRPr>
          </a:p>
          <a:p>
            <a:pPr>
              <a:spcBef>
                <a:spcPts val="600"/>
              </a:spcBef>
            </a:pPr>
            <a:r>
              <a:rPr lang="en-US" sz="1200" dirty="0">
                <a:solidFill>
                  <a:schemeClr val="tx2">
                    <a:lumMod val="75000"/>
                    <a:lumOff val="25000"/>
                  </a:schemeClr>
                </a:solidFill>
                <a:hlinkClick r:id="rId6">
                  <a:extLst>
                    <a:ext uri="{A12FA001-AC4F-418D-AE19-62706E023703}">
                      <ahyp:hlinkClr xmlns:ahyp="http://schemas.microsoft.com/office/drawing/2018/hyperlinkcolor" val="tx"/>
                    </a:ext>
                  </a:extLst>
                </a:hlinkClick>
              </a:rPr>
              <a:t>https://www.ucdavis.edu/climate/definitions/wildfire/8-wildfire-questions</a:t>
            </a:r>
            <a:endParaRPr lang="en-US" sz="1200" dirty="0">
              <a:solidFill>
                <a:schemeClr val="tx2">
                  <a:lumMod val="75000"/>
                  <a:lumOff val="25000"/>
                </a:schemeClr>
              </a:solidFill>
            </a:endParaRPr>
          </a:p>
          <a:p>
            <a:pPr>
              <a:spcBef>
                <a:spcPts val="600"/>
              </a:spcBef>
            </a:pPr>
            <a:r>
              <a:rPr lang="en-US" sz="1200" dirty="0">
                <a:solidFill>
                  <a:schemeClr val="tx2">
                    <a:lumMod val="75000"/>
                    <a:lumOff val="25000"/>
                  </a:schemeClr>
                </a:solidFill>
                <a:hlinkClick r:id="rId7">
                  <a:extLst>
                    <a:ext uri="{A12FA001-AC4F-418D-AE19-62706E023703}">
                      <ahyp:hlinkClr xmlns:ahyp="http://schemas.microsoft.com/office/drawing/2018/hyperlinkcolor" val="tx"/>
                    </a:ext>
                  </a:extLst>
                </a:hlinkClick>
              </a:rPr>
              <a:t>https://hsph.harvard.edu/environmental-health/news/health-impacts-of-wildfires-frequently-asked-questions/</a:t>
            </a:r>
            <a:endParaRPr lang="en-US" sz="1200" dirty="0">
              <a:solidFill>
                <a:schemeClr val="tx2">
                  <a:lumMod val="75000"/>
                  <a:lumOff val="25000"/>
                </a:schemeClr>
              </a:solidFill>
            </a:endParaRPr>
          </a:p>
          <a:p>
            <a:pPr>
              <a:spcBef>
                <a:spcPts val="600"/>
              </a:spcBef>
            </a:pPr>
            <a:r>
              <a:rPr lang="en-US" sz="1200" dirty="0">
                <a:solidFill>
                  <a:schemeClr val="tx2">
                    <a:lumMod val="75000"/>
                    <a:lumOff val="25000"/>
                  </a:schemeClr>
                </a:solidFill>
                <a:hlinkClick r:id="rId8">
                  <a:extLst>
                    <a:ext uri="{A12FA001-AC4F-418D-AE19-62706E023703}">
                      <ahyp:hlinkClr xmlns:ahyp="http://schemas.microsoft.com/office/drawing/2018/hyperlinkcolor" val="tx"/>
                    </a:ext>
                  </a:extLst>
                </a:hlinkClick>
              </a:rPr>
              <a:t>https://dec.alaska.gov/air/smoke-faq/</a:t>
            </a:r>
            <a:endParaRPr lang="en-US" sz="1200" dirty="0">
              <a:solidFill>
                <a:schemeClr val="tx2">
                  <a:lumMod val="75000"/>
                  <a:lumOff val="25000"/>
                </a:schemeClr>
              </a:solidFill>
            </a:endParaRPr>
          </a:p>
          <a:p>
            <a:pPr>
              <a:spcBef>
                <a:spcPts val="600"/>
              </a:spcBef>
            </a:pPr>
            <a:r>
              <a:rPr lang="en-US" sz="1200" dirty="0">
                <a:solidFill>
                  <a:schemeClr val="tx2">
                    <a:lumMod val="75000"/>
                    <a:lumOff val="25000"/>
                  </a:schemeClr>
                </a:solidFill>
                <a:hlinkClick r:id="rId9">
                  <a:extLst>
                    <a:ext uri="{A12FA001-AC4F-418D-AE19-62706E023703}">
                      <ahyp:hlinkClr xmlns:ahyp="http://schemas.microsoft.com/office/drawing/2018/hyperlinkcolor" val="tx"/>
                    </a:ext>
                  </a:extLst>
                </a:hlinkClick>
              </a:rPr>
              <a:t>https://www.montecitofire.com/wildfire-prevention-preparedness-frequently-asked-questions</a:t>
            </a:r>
            <a:endParaRPr lang="en-US" sz="1200" dirty="0">
              <a:solidFill>
                <a:schemeClr val="tx2">
                  <a:lumMod val="75000"/>
                  <a:lumOff val="25000"/>
                </a:schemeClr>
              </a:solidFill>
            </a:endParaRPr>
          </a:p>
          <a:p>
            <a:pPr>
              <a:spcBef>
                <a:spcPts val="600"/>
              </a:spcBef>
            </a:pPr>
            <a:r>
              <a:rPr lang="en-US" sz="1200" dirty="0">
                <a:solidFill>
                  <a:schemeClr val="tx2">
                    <a:lumMod val="75000"/>
                    <a:lumOff val="25000"/>
                  </a:schemeClr>
                </a:solidFill>
                <a:hlinkClick r:id="rId10">
                  <a:extLst>
                    <a:ext uri="{A12FA001-AC4F-418D-AE19-62706E023703}">
                      <ahyp:hlinkClr xmlns:ahyp="http://schemas.microsoft.com/office/drawing/2018/hyperlinkcolor" val="tx"/>
                    </a:ext>
                  </a:extLst>
                </a:hlinkClick>
              </a:rPr>
              <a:t>https://azdeq.gov/wildfire-faqs</a:t>
            </a:r>
            <a:endParaRPr lang="en-US" sz="1200" dirty="0">
              <a:solidFill>
                <a:schemeClr val="tx2">
                  <a:lumMod val="75000"/>
                  <a:lumOff val="25000"/>
                </a:schemeClr>
              </a:solidFill>
            </a:endParaRPr>
          </a:p>
          <a:p>
            <a:pPr>
              <a:spcBef>
                <a:spcPts val="600"/>
              </a:spcBef>
            </a:pPr>
            <a:r>
              <a:rPr lang="en-US" sz="1200" dirty="0">
                <a:solidFill>
                  <a:schemeClr val="tx2">
                    <a:lumMod val="75000"/>
                    <a:lumOff val="25000"/>
                  </a:schemeClr>
                </a:solidFill>
                <a:hlinkClick r:id="rId11">
                  <a:extLst>
                    <a:ext uri="{A12FA001-AC4F-418D-AE19-62706E023703}">
                      <ahyp:hlinkClr xmlns:ahyp="http://schemas.microsoft.com/office/drawing/2018/hyperlinkcolor" val="tx"/>
                    </a:ext>
                  </a:extLst>
                </a:hlinkClick>
              </a:rPr>
              <a:t>https://www.worldvision.org/disaster-relief-news-stories/california-fires-facts-faqs-how-to-help</a:t>
            </a:r>
            <a:endParaRPr lang="en-US" sz="1200" dirty="0">
              <a:solidFill>
                <a:schemeClr val="tx2">
                  <a:lumMod val="75000"/>
                  <a:lumOff val="25000"/>
                </a:schemeClr>
              </a:solidFill>
            </a:endParaRPr>
          </a:p>
          <a:p>
            <a:pPr>
              <a:spcBef>
                <a:spcPts val="600"/>
              </a:spcBef>
            </a:pPr>
            <a:r>
              <a:rPr lang="en-US" sz="1200" dirty="0">
                <a:solidFill>
                  <a:schemeClr val="tx2">
                    <a:lumMod val="75000"/>
                    <a:lumOff val="25000"/>
                  </a:schemeClr>
                </a:solidFill>
                <a:hlinkClick r:id="rId12">
                  <a:extLst>
                    <a:ext uri="{A12FA001-AC4F-418D-AE19-62706E023703}">
                      <ahyp:hlinkClr xmlns:ahyp="http://schemas.microsoft.com/office/drawing/2018/hyperlinkcolor" val="tx"/>
                    </a:ext>
                  </a:extLst>
                </a:hlinkClick>
              </a:rPr>
              <a:t>https://sharedsystems.dhsoha.state.or.us/DHSForms/Served/le8626.pdf</a:t>
            </a:r>
            <a:endParaRPr lang="en-US" sz="1200" dirty="0">
              <a:solidFill>
                <a:schemeClr val="tx2">
                  <a:lumMod val="75000"/>
                  <a:lumOff val="25000"/>
                </a:schemeClr>
              </a:solidFill>
            </a:endParaRPr>
          </a:p>
          <a:p>
            <a:pPr>
              <a:spcBef>
                <a:spcPts val="600"/>
              </a:spcBef>
            </a:pPr>
            <a:r>
              <a:rPr lang="en-US" sz="1200" dirty="0">
                <a:solidFill>
                  <a:schemeClr val="tx2">
                    <a:lumMod val="75000"/>
                    <a:lumOff val="25000"/>
                  </a:schemeClr>
                </a:solidFill>
                <a:hlinkClick r:id="rId13">
                  <a:extLst>
                    <a:ext uri="{A12FA001-AC4F-418D-AE19-62706E023703}">
                      <ahyp:hlinkClr xmlns:ahyp="http://schemas.microsoft.com/office/drawing/2018/hyperlinkcolor" val="tx"/>
                    </a:ext>
                  </a:extLst>
                </a:hlinkClick>
              </a:rPr>
              <a:t>https://wildfirepartners.org/general-faq/</a:t>
            </a:r>
            <a:endParaRPr lang="en-US" sz="1200" dirty="0">
              <a:solidFill>
                <a:schemeClr val="tx2">
                  <a:lumMod val="75000"/>
                  <a:lumOff val="25000"/>
                </a:schemeClr>
              </a:solidFill>
            </a:endParaRPr>
          </a:p>
          <a:p>
            <a:pPr>
              <a:spcBef>
                <a:spcPts val="600"/>
              </a:spcBef>
            </a:pPr>
            <a:r>
              <a:rPr lang="en-US" sz="1200" dirty="0">
                <a:solidFill>
                  <a:schemeClr val="tx2">
                    <a:lumMod val="75000"/>
                    <a:lumOff val="25000"/>
                  </a:schemeClr>
                </a:solidFill>
                <a:hlinkClick r:id="rId14">
                  <a:extLst>
                    <a:ext uri="{A12FA001-AC4F-418D-AE19-62706E023703}">
                      <ahyp:hlinkClr xmlns:ahyp="http://schemas.microsoft.com/office/drawing/2018/hyperlinkcolor" val="tx"/>
                    </a:ext>
                  </a:extLst>
                </a:hlinkClick>
              </a:rPr>
              <a:t>https://www.aspenfire.com/wildfire-faq</a:t>
            </a:r>
            <a:endParaRPr lang="en-US" sz="1200" dirty="0">
              <a:solidFill>
                <a:schemeClr val="tx2">
                  <a:lumMod val="75000"/>
                  <a:lumOff val="25000"/>
                </a:schemeClr>
              </a:solidFill>
            </a:endParaRPr>
          </a:p>
          <a:p>
            <a:pPr>
              <a:spcBef>
                <a:spcPts val="600"/>
              </a:spcBef>
            </a:pPr>
            <a:r>
              <a:rPr lang="en-US" sz="1200" dirty="0">
                <a:solidFill>
                  <a:schemeClr val="tx2">
                    <a:lumMod val="75000"/>
                    <a:lumOff val="25000"/>
                  </a:schemeClr>
                </a:solidFill>
                <a:hlinkClick r:id="rId15">
                  <a:extLst>
                    <a:ext uri="{A12FA001-AC4F-418D-AE19-62706E023703}">
                      <ahyp:hlinkClr xmlns:ahyp="http://schemas.microsoft.com/office/drawing/2018/hyperlinkcolor" val="tx"/>
                    </a:ext>
                  </a:extLst>
                </a:hlinkClick>
              </a:rPr>
              <a:t>https://srhd.org/health-topics/environmental-health/wildfire-smoke/air-quality-wildfire-faq</a:t>
            </a:r>
            <a:endParaRPr lang="en-US" sz="1200" dirty="0">
              <a:solidFill>
                <a:schemeClr val="tx2">
                  <a:lumMod val="75000"/>
                  <a:lumOff val="25000"/>
                </a:schemeClr>
              </a:solidFill>
            </a:endParaRPr>
          </a:p>
          <a:p>
            <a:pPr>
              <a:spcBef>
                <a:spcPts val="600"/>
              </a:spcBef>
            </a:pPr>
            <a:r>
              <a:rPr lang="en-US" sz="1200" dirty="0">
                <a:solidFill>
                  <a:schemeClr val="tx2">
                    <a:lumMod val="75000"/>
                    <a:lumOff val="25000"/>
                  </a:schemeClr>
                </a:solidFill>
                <a:hlinkClick r:id="rId16">
                  <a:extLst>
                    <a:ext uri="{A12FA001-AC4F-418D-AE19-62706E023703}">
                      <ahyp:hlinkClr xmlns:ahyp="http://schemas.microsoft.com/office/drawing/2018/hyperlinkcolor" val="tx"/>
                    </a:ext>
                  </a:extLst>
                </a:hlinkClick>
              </a:rPr>
              <a:t>https://www.pscleanair.gov/m/faq?cat=32</a:t>
            </a:r>
            <a:endParaRPr lang="en-US" sz="1200" dirty="0">
              <a:solidFill>
                <a:schemeClr val="tx2">
                  <a:lumMod val="75000"/>
                  <a:lumOff val="25000"/>
                </a:schemeClr>
              </a:solidFill>
            </a:endParaRPr>
          </a:p>
          <a:p>
            <a:pPr>
              <a:spcBef>
                <a:spcPts val="600"/>
              </a:spcBef>
            </a:pPr>
            <a:r>
              <a:rPr lang="en-US" sz="1200" dirty="0">
                <a:solidFill>
                  <a:schemeClr val="tx2">
                    <a:lumMod val="75000"/>
                    <a:lumOff val="25000"/>
                  </a:schemeClr>
                </a:solidFill>
                <a:hlinkClick r:id="rId17">
                  <a:extLst>
                    <a:ext uri="{A12FA001-AC4F-418D-AE19-62706E023703}">
                      <ahyp:hlinkClr xmlns:ahyp="http://schemas.microsoft.com/office/drawing/2018/hyperlinkcolor" val="tx"/>
                    </a:ext>
                  </a:extLst>
                </a:hlinkClick>
              </a:rPr>
              <a:t>https://theodorepayne.org/wildfire-faq/</a:t>
            </a:r>
            <a:endParaRPr lang="en-US" sz="1200" dirty="0">
              <a:solidFill>
                <a:schemeClr val="tx2">
                  <a:lumMod val="75000"/>
                  <a:lumOff val="25000"/>
                </a:schemeClr>
              </a:solidFill>
            </a:endParaRPr>
          </a:p>
          <a:p>
            <a:pPr>
              <a:spcBef>
                <a:spcPts val="600"/>
              </a:spcBef>
            </a:pPr>
            <a:r>
              <a:rPr lang="en-US" sz="1200" dirty="0">
                <a:solidFill>
                  <a:schemeClr val="tx2">
                    <a:lumMod val="75000"/>
                    <a:lumOff val="25000"/>
                  </a:schemeClr>
                </a:solidFill>
                <a:hlinkClick r:id="rId18">
                  <a:extLst>
                    <a:ext uri="{A12FA001-AC4F-418D-AE19-62706E023703}">
                      <ahyp:hlinkClr xmlns:ahyp="http://schemas.microsoft.com/office/drawing/2018/hyperlinkcolor" val="tx"/>
                    </a:ext>
                  </a:extLst>
                </a:hlinkClick>
              </a:rPr>
              <a:t>https://extension.oregonstate.edu/catalog/em-9193-fire-faqs-managing-wildfire-resource-benefit</a:t>
            </a:r>
            <a:endParaRPr lang="en-US" sz="1200" dirty="0">
              <a:solidFill>
                <a:schemeClr val="tx2">
                  <a:lumMod val="75000"/>
                  <a:lumOff val="25000"/>
                </a:schemeClr>
              </a:solidFill>
            </a:endParaRPr>
          </a:p>
          <a:p>
            <a:pPr>
              <a:spcBef>
                <a:spcPts val="600"/>
              </a:spcBef>
            </a:pPr>
            <a:endParaRPr lang="en-US" sz="1200" dirty="0"/>
          </a:p>
          <a:p>
            <a:pPr>
              <a:spcBef>
                <a:spcPts val="600"/>
              </a:spcBef>
            </a:pPr>
            <a:endParaRPr lang="en-US" sz="1200" dirty="0"/>
          </a:p>
        </p:txBody>
      </p:sp>
      <p:sp>
        <p:nvSpPr>
          <p:cNvPr id="5" name="TextBox 4">
            <a:extLst>
              <a:ext uri="{FF2B5EF4-FFF2-40B4-BE49-F238E27FC236}">
                <a16:creationId xmlns:a16="http://schemas.microsoft.com/office/drawing/2014/main" id="{C672BCC7-BD8D-522E-62A7-6FB69F64145E}"/>
              </a:ext>
            </a:extLst>
          </p:cNvPr>
          <p:cNvSpPr txBox="1"/>
          <p:nvPr/>
        </p:nvSpPr>
        <p:spPr>
          <a:xfrm>
            <a:off x="5709684" y="1169581"/>
            <a:ext cx="5644116" cy="5893921"/>
          </a:xfrm>
          <a:prstGeom prst="rect">
            <a:avLst/>
          </a:prstGeom>
          <a:noFill/>
        </p:spPr>
        <p:txBody>
          <a:bodyPr wrap="square">
            <a:spAutoFit/>
          </a:bodyPr>
          <a:lstStyle/>
          <a:p>
            <a:pPr marL="285750" indent="-285750">
              <a:spcAft>
                <a:spcPts val="600"/>
              </a:spcAft>
              <a:buFont typeface="Arial" panose="020B0604020202020204" pitchFamily="34" charset="0"/>
              <a:buChar char="•"/>
            </a:pPr>
            <a:r>
              <a:rPr lang="en-US" sz="1200" dirty="0">
                <a:solidFill>
                  <a:schemeClr val="tx2">
                    <a:lumMod val="75000"/>
                    <a:lumOff val="25000"/>
                  </a:schemeClr>
                </a:solidFill>
                <a:hlinkClick r:id="rId19">
                  <a:extLst>
                    <a:ext uri="{A12FA001-AC4F-418D-AE19-62706E023703}">
                      <ahyp:hlinkClr xmlns:ahyp="http://schemas.microsoft.com/office/drawing/2018/hyperlinkcolor" val="tx"/>
                    </a:ext>
                  </a:extLst>
                </a:hlinkClick>
              </a:rPr>
              <a:t>https://vifr.org/wildland-fire-safety/</a:t>
            </a:r>
            <a:endParaRPr lang="en-US" sz="1200" dirty="0">
              <a:solidFill>
                <a:schemeClr val="tx2">
                  <a:lumMod val="75000"/>
                  <a:lumOff val="25000"/>
                </a:schemeClr>
              </a:solidFill>
            </a:endParaRPr>
          </a:p>
          <a:p>
            <a:pPr marL="285750" indent="-285750">
              <a:spcAft>
                <a:spcPts val="600"/>
              </a:spcAft>
              <a:buFont typeface="Arial" panose="020B0604020202020204" pitchFamily="34" charset="0"/>
              <a:buChar char="•"/>
            </a:pPr>
            <a:r>
              <a:rPr lang="en-US" sz="1200" dirty="0">
                <a:solidFill>
                  <a:schemeClr val="tx2">
                    <a:lumMod val="75000"/>
                    <a:lumOff val="25000"/>
                  </a:schemeClr>
                </a:solidFill>
                <a:hlinkClick r:id="rId20">
                  <a:extLst>
                    <a:ext uri="{A12FA001-AC4F-418D-AE19-62706E023703}">
                      <ahyp:hlinkClr xmlns:ahyp="http://schemas.microsoft.com/office/drawing/2018/hyperlinkcolor" val="tx"/>
                    </a:ext>
                  </a:extLst>
                </a:hlinkClick>
              </a:rPr>
              <a:t>https://cityofpetaluma.org/wildfire-faqs/</a:t>
            </a:r>
            <a:endParaRPr lang="en-US" sz="1200" dirty="0">
              <a:solidFill>
                <a:schemeClr val="tx2">
                  <a:lumMod val="75000"/>
                  <a:lumOff val="25000"/>
                </a:schemeClr>
              </a:solidFill>
            </a:endParaRPr>
          </a:p>
          <a:p>
            <a:pPr marL="285750" indent="-285750">
              <a:spcAft>
                <a:spcPts val="600"/>
              </a:spcAft>
              <a:buFont typeface="Arial" panose="020B0604020202020204" pitchFamily="34" charset="0"/>
              <a:buChar char="•"/>
            </a:pPr>
            <a:r>
              <a:rPr lang="en-US" sz="1200" dirty="0">
                <a:solidFill>
                  <a:schemeClr val="tx2">
                    <a:lumMod val="75000"/>
                    <a:lumOff val="25000"/>
                  </a:schemeClr>
                </a:solidFill>
                <a:hlinkClick r:id="rId21">
                  <a:extLst>
                    <a:ext uri="{A12FA001-AC4F-418D-AE19-62706E023703}">
                      <ahyp:hlinkClr xmlns:ahyp="http://schemas.microsoft.com/office/drawing/2018/hyperlinkcolor" val="tx"/>
                    </a:ext>
                  </a:extLst>
                </a:hlinkClick>
              </a:rPr>
              <a:t>https://www.wildfirela.org/2025/01/17/before-you-can-go-home-after-the-fires/</a:t>
            </a:r>
            <a:endParaRPr lang="en-US" sz="1200" dirty="0">
              <a:solidFill>
                <a:schemeClr val="tx2">
                  <a:lumMod val="75000"/>
                  <a:lumOff val="25000"/>
                </a:schemeClr>
              </a:solidFill>
            </a:endParaRPr>
          </a:p>
          <a:p>
            <a:pPr marL="285750" indent="-285750">
              <a:spcAft>
                <a:spcPts val="600"/>
              </a:spcAft>
              <a:buFont typeface="Arial" panose="020B0604020202020204" pitchFamily="34" charset="0"/>
              <a:buChar char="•"/>
            </a:pPr>
            <a:r>
              <a:rPr lang="en-US" sz="1200" dirty="0">
                <a:solidFill>
                  <a:schemeClr val="tx2">
                    <a:lumMod val="75000"/>
                    <a:lumOff val="25000"/>
                  </a:schemeClr>
                </a:solidFill>
                <a:hlinkClick r:id="rId22">
                  <a:extLst>
                    <a:ext uri="{A12FA001-AC4F-418D-AE19-62706E023703}">
                      <ahyp:hlinkClr xmlns:ahyp="http://schemas.microsoft.com/office/drawing/2018/hyperlinkcolor" val="tx"/>
                    </a:ext>
                  </a:extLst>
                </a:hlinkClick>
              </a:rPr>
              <a:t>https://www.pa.gov/agencies/dcnr/programs-and-services/community-outreach-and-development/wildfire</a:t>
            </a:r>
            <a:endParaRPr lang="en-US" sz="1200" dirty="0">
              <a:solidFill>
                <a:schemeClr val="tx2">
                  <a:lumMod val="75000"/>
                  <a:lumOff val="25000"/>
                </a:schemeClr>
              </a:solidFill>
            </a:endParaRPr>
          </a:p>
          <a:p>
            <a:pPr marL="285750" indent="-285750">
              <a:spcAft>
                <a:spcPts val="600"/>
              </a:spcAft>
              <a:buFont typeface="Arial" panose="020B0604020202020204" pitchFamily="34" charset="0"/>
              <a:buChar char="•"/>
            </a:pPr>
            <a:r>
              <a:rPr lang="en-US" sz="1200" dirty="0">
                <a:solidFill>
                  <a:schemeClr val="tx2">
                    <a:lumMod val="75000"/>
                    <a:lumOff val="25000"/>
                  </a:schemeClr>
                </a:solidFill>
                <a:hlinkClick r:id="rId23">
                  <a:extLst>
                    <a:ext uri="{A12FA001-AC4F-418D-AE19-62706E023703}">
                      <ahyp:hlinkClr xmlns:ahyp="http://schemas.microsoft.com/office/drawing/2018/hyperlinkcolor" val="tx"/>
                    </a:ext>
                  </a:extLst>
                </a:hlinkClick>
              </a:rPr>
              <a:t>http://publichealth.lacounty.gov/media/wildfire/faq.htm</a:t>
            </a:r>
            <a:endParaRPr lang="en-US" sz="1200" dirty="0">
              <a:solidFill>
                <a:schemeClr val="tx2">
                  <a:lumMod val="75000"/>
                  <a:lumOff val="25000"/>
                </a:schemeClr>
              </a:solidFill>
            </a:endParaRPr>
          </a:p>
          <a:p>
            <a:pPr marL="285750" indent="-285750">
              <a:spcAft>
                <a:spcPts val="600"/>
              </a:spcAft>
              <a:buFont typeface="Arial" panose="020B0604020202020204" pitchFamily="34" charset="0"/>
              <a:buChar char="•"/>
            </a:pPr>
            <a:r>
              <a:rPr lang="en-US" sz="1200" dirty="0">
                <a:solidFill>
                  <a:schemeClr val="tx2">
                    <a:lumMod val="75000"/>
                    <a:lumOff val="25000"/>
                  </a:schemeClr>
                </a:solidFill>
                <a:hlinkClick r:id="rId24">
                  <a:extLst>
                    <a:ext uri="{A12FA001-AC4F-418D-AE19-62706E023703}">
                      <ahyp:hlinkClr xmlns:ahyp="http://schemas.microsoft.com/office/drawing/2018/hyperlinkcolor" val="tx"/>
                    </a:ext>
                  </a:extLst>
                </a:hlinkClick>
              </a:rPr>
              <a:t>https://ndresponse.gov/wildfire-faq</a:t>
            </a:r>
            <a:endParaRPr lang="en-US" sz="1200" dirty="0">
              <a:solidFill>
                <a:schemeClr val="tx2">
                  <a:lumMod val="75000"/>
                  <a:lumOff val="25000"/>
                </a:schemeClr>
              </a:solidFill>
            </a:endParaRPr>
          </a:p>
          <a:p>
            <a:pPr marL="285750" indent="-285750">
              <a:spcAft>
                <a:spcPts val="600"/>
              </a:spcAft>
              <a:buFont typeface="Arial" panose="020B0604020202020204" pitchFamily="34" charset="0"/>
              <a:buChar char="•"/>
            </a:pPr>
            <a:r>
              <a:rPr lang="en-US" sz="1200" dirty="0">
                <a:solidFill>
                  <a:schemeClr val="tx2">
                    <a:lumMod val="75000"/>
                    <a:lumOff val="25000"/>
                  </a:schemeClr>
                </a:solidFill>
                <a:hlinkClick r:id="rId25">
                  <a:extLst>
                    <a:ext uri="{A12FA001-AC4F-418D-AE19-62706E023703}">
                      <ahyp:hlinkClr xmlns:ahyp="http://schemas.microsoft.com/office/drawing/2018/hyperlinkcolor" val="tx"/>
                    </a:ext>
                  </a:extLst>
                </a:hlinkClick>
              </a:rPr>
              <a:t>https://coloradosprings.gov/WildfireReady</a:t>
            </a:r>
            <a:endParaRPr lang="en-US" sz="1200" dirty="0">
              <a:solidFill>
                <a:schemeClr val="tx2">
                  <a:lumMod val="75000"/>
                  <a:lumOff val="25000"/>
                </a:schemeClr>
              </a:solidFill>
            </a:endParaRPr>
          </a:p>
          <a:p>
            <a:pPr marL="285750" indent="-285750">
              <a:spcAft>
                <a:spcPts val="600"/>
              </a:spcAft>
              <a:buFont typeface="Arial" panose="020B0604020202020204" pitchFamily="34" charset="0"/>
              <a:buChar char="•"/>
            </a:pPr>
            <a:r>
              <a:rPr lang="en-US" sz="1200" dirty="0">
                <a:solidFill>
                  <a:schemeClr val="tx2">
                    <a:lumMod val="75000"/>
                    <a:lumOff val="25000"/>
                  </a:schemeClr>
                </a:solidFill>
                <a:hlinkClick r:id="rId26">
                  <a:extLst>
                    <a:ext uri="{A12FA001-AC4F-418D-AE19-62706E023703}">
                      <ahyp:hlinkClr xmlns:ahyp="http://schemas.microsoft.com/office/drawing/2018/hyperlinkcolor" val="tx"/>
                    </a:ext>
                  </a:extLst>
                </a:hlinkClick>
              </a:rPr>
              <a:t>https://des.mt.gov/Preparedness/Wildfire-Season-Resources</a:t>
            </a:r>
            <a:endParaRPr lang="en-US" sz="1200" dirty="0">
              <a:solidFill>
                <a:schemeClr val="tx2">
                  <a:lumMod val="75000"/>
                  <a:lumOff val="25000"/>
                </a:schemeClr>
              </a:solidFill>
            </a:endParaRPr>
          </a:p>
          <a:p>
            <a:pPr marL="285750" indent="-285750">
              <a:spcAft>
                <a:spcPts val="600"/>
              </a:spcAft>
              <a:buFont typeface="Arial" panose="020B0604020202020204" pitchFamily="34" charset="0"/>
              <a:buChar char="•"/>
            </a:pPr>
            <a:r>
              <a:rPr lang="en-US" sz="1200" dirty="0">
                <a:hlinkClick r:id="rId27"/>
              </a:rPr>
              <a:t>https://www.cawildfirefund.com/sites/wildfire/files/documents/2025/cwf-media-explainer-terms-and-questions-march-2025.pdf</a:t>
            </a:r>
            <a:endParaRPr lang="en-US" sz="1200" dirty="0"/>
          </a:p>
          <a:p>
            <a:pPr marL="285750" indent="-285750">
              <a:spcAft>
                <a:spcPts val="600"/>
              </a:spcAft>
              <a:buFont typeface="Arial" panose="020B0604020202020204" pitchFamily="34" charset="0"/>
              <a:buChar char="•"/>
            </a:pPr>
            <a:r>
              <a:rPr lang="en-US" sz="1200" dirty="0">
                <a:hlinkClick r:id="rId28"/>
              </a:rPr>
              <a:t>https://www.dir.ca.gov/dosh/wildfire/wildfire-faq.html</a:t>
            </a:r>
            <a:endParaRPr lang="en-US" sz="1200" dirty="0"/>
          </a:p>
          <a:p>
            <a:pPr marL="285750" indent="-285750">
              <a:spcAft>
                <a:spcPts val="600"/>
              </a:spcAft>
              <a:buFont typeface="Arial" panose="020B0604020202020204" pitchFamily="34" charset="0"/>
              <a:buChar char="•"/>
            </a:pPr>
            <a:r>
              <a:rPr lang="en-US" sz="1200" dirty="0">
                <a:hlinkClick r:id="rId29"/>
              </a:rPr>
              <a:t>https://www.worldvision.org/disaster-relief-news-stories/wildfires-facts-faqs-how-to-help</a:t>
            </a:r>
            <a:endParaRPr lang="en-US" sz="1200" dirty="0"/>
          </a:p>
          <a:p>
            <a:pPr marL="285750" indent="-285750">
              <a:spcAft>
                <a:spcPts val="600"/>
              </a:spcAft>
              <a:buFont typeface="Arial" panose="020B0604020202020204" pitchFamily="34" charset="0"/>
              <a:buChar char="•"/>
            </a:pPr>
            <a:r>
              <a:rPr lang="en-US" sz="1200" dirty="0">
                <a:hlinkClick r:id="rId30"/>
              </a:rPr>
              <a:t>https://permitsonoma.org/wildfireadapted-faq</a:t>
            </a:r>
            <a:endParaRPr lang="en-US" sz="1200" dirty="0"/>
          </a:p>
          <a:p>
            <a:pPr marL="285750" indent="-285750">
              <a:spcAft>
                <a:spcPts val="600"/>
              </a:spcAft>
              <a:buFont typeface="Arial" panose="020B0604020202020204" pitchFamily="34" charset="0"/>
              <a:buChar char="•"/>
            </a:pPr>
            <a:r>
              <a:rPr lang="en-US" sz="1200" dirty="0">
                <a:hlinkClick r:id="rId31"/>
              </a:rPr>
              <a:t>https://help.firststreet.org/hc/en-us/articles/5720773111063-Community-Wildfire-Risk-FAQ</a:t>
            </a:r>
            <a:endParaRPr lang="en-US" sz="1200" dirty="0"/>
          </a:p>
          <a:p>
            <a:pPr marL="285750" indent="-285750">
              <a:spcAft>
                <a:spcPts val="600"/>
              </a:spcAft>
              <a:buFont typeface="Arial" panose="020B0604020202020204" pitchFamily="34" charset="0"/>
              <a:buChar char="•"/>
            </a:pPr>
            <a:r>
              <a:rPr lang="en-US" sz="1200" dirty="0">
                <a:hlinkClick r:id="rId32"/>
              </a:rPr>
              <a:t>https://www.elementalfilm.com/faqs</a:t>
            </a:r>
            <a:endParaRPr lang="en-US" sz="1200" dirty="0"/>
          </a:p>
          <a:p>
            <a:pPr marL="285750" indent="-285750">
              <a:spcAft>
                <a:spcPts val="600"/>
              </a:spcAft>
              <a:buFont typeface="Arial" panose="020B0604020202020204" pitchFamily="34" charset="0"/>
              <a:buChar char="•"/>
            </a:pPr>
            <a:r>
              <a:rPr lang="en-US" sz="1200" dirty="0">
                <a:hlinkClick r:id="rId33"/>
              </a:rPr>
              <a:t>file:///Users/meenuravi/Downloads/wildfire-smoke-faq-pdf-en.pdf</a:t>
            </a:r>
            <a:endParaRPr lang="en-US" sz="1200" dirty="0"/>
          </a:p>
          <a:p>
            <a:pPr marL="285750" indent="-285750">
              <a:spcAft>
                <a:spcPts val="600"/>
              </a:spcAft>
              <a:buFont typeface="Arial" panose="020B0604020202020204" pitchFamily="34" charset="0"/>
              <a:buChar char="•"/>
            </a:pPr>
            <a:endParaRPr lang="en-US" sz="1200" dirty="0"/>
          </a:p>
          <a:p>
            <a:pPr marL="285750" indent="-285750">
              <a:spcAft>
                <a:spcPts val="600"/>
              </a:spcAft>
              <a:buFont typeface="Arial" panose="020B0604020202020204" pitchFamily="34" charset="0"/>
              <a:buChar char="•"/>
            </a:pPr>
            <a:endParaRPr lang="en-US" sz="1200" dirty="0"/>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endParaRPr lang="en-US" sz="1400" dirty="0"/>
          </a:p>
        </p:txBody>
      </p:sp>
    </p:spTree>
    <p:extLst>
      <p:ext uri="{BB962C8B-B14F-4D97-AF65-F5344CB8AC3E}">
        <p14:creationId xmlns:p14="http://schemas.microsoft.com/office/powerpoint/2010/main" val="8996391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01566D-8A9F-3C91-62E6-BE6A1A9BD55C}"/>
              </a:ext>
            </a:extLst>
          </p:cNvPr>
          <p:cNvSpPr>
            <a:spLocks noGrp="1"/>
          </p:cNvSpPr>
          <p:nvPr>
            <p:ph type="title"/>
          </p:nvPr>
        </p:nvSpPr>
        <p:spPr/>
        <p:txBody>
          <a:bodyPr>
            <a:normAutofit/>
          </a:bodyPr>
          <a:lstStyle/>
          <a:p>
            <a:r>
              <a:rPr lang="en-US" dirty="0"/>
              <a:t>Research Questions</a:t>
            </a:r>
          </a:p>
        </p:txBody>
      </p:sp>
      <p:sp>
        <p:nvSpPr>
          <p:cNvPr id="3" name="Content Placeholder 2">
            <a:extLst>
              <a:ext uri="{FF2B5EF4-FFF2-40B4-BE49-F238E27FC236}">
                <a16:creationId xmlns:a16="http://schemas.microsoft.com/office/drawing/2014/main" id="{AFC22B59-2FE1-25E4-98DA-EB0C09686498}"/>
              </a:ext>
            </a:extLst>
          </p:cNvPr>
          <p:cNvSpPr>
            <a:spLocks noGrp="1"/>
          </p:cNvSpPr>
          <p:nvPr>
            <p:ph idx="1"/>
          </p:nvPr>
        </p:nvSpPr>
        <p:spPr/>
        <p:txBody>
          <a:bodyPr/>
          <a:lstStyle/>
          <a:p>
            <a:r>
              <a:rPr lang="en-US" dirty="0"/>
              <a:t>How can we measure the impact of geographic granularity in geospatial Q and A?</a:t>
            </a:r>
          </a:p>
          <a:p>
            <a:r>
              <a:rPr lang="en-US" dirty="0"/>
              <a:t>What is the most accuracy and effective method of measuring geographic granularity uncertainty</a:t>
            </a:r>
          </a:p>
          <a:p>
            <a:r>
              <a:rPr lang="en-US" dirty="0"/>
              <a:t>Is this new UE method more effective than baselines? If so, how much better?</a:t>
            </a:r>
          </a:p>
          <a:p>
            <a:endParaRPr lang="en-US" dirty="0"/>
          </a:p>
        </p:txBody>
      </p:sp>
    </p:spTree>
    <p:extLst>
      <p:ext uri="{BB962C8B-B14F-4D97-AF65-F5344CB8AC3E}">
        <p14:creationId xmlns:p14="http://schemas.microsoft.com/office/powerpoint/2010/main" val="40884735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540F7-11B6-AC68-7FA0-B1F152D26D7B}"/>
              </a:ext>
            </a:extLst>
          </p:cNvPr>
          <p:cNvSpPr>
            <a:spLocks noGrp="1"/>
          </p:cNvSpPr>
          <p:nvPr>
            <p:ph type="title"/>
          </p:nvPr>
        </p:nvSpPr>
        <p:spPr/>
        <p:txBody>
          <a:bodyPr/>
          <a:lstStyle/>
          <a:p>
            <a:r>
              <a:rPr lang="en-US" dirty="0" err="1"/>
              <a:t>WildfireGPT</a:t>
            </a:r>
            <a:endParaRPr lang="en-US" dirty="0"/>
          </a:p>
        </p:txBody>
      </p:sp>
      <p:pic>
        <p:nvPicPr>
          <p:cNvPr id="4" name="Content Placeholder 3">
            <a:extLst>
              <a:ext uri="{FF2B5EF4-FFF2-40B4-BE49-F238E27FC236}">
                <a16:creationId xmlns:a16="http://schemas.microsoft.com/office/drawing/2014/main" id="{165F8F43-87B7-ACD5-E596-F16FF696991C}"/>
              </a:ext>
            </a:extLst>
          </p:cNvPr>
          <p:cNvPicPr>
            <a:picLocks noGrp="1" noChangeAspect="1"/>
          </p:cNvPicPr>
          <p:nvPr>
            <p:ph idx="1"/>
          </p:nvPr>
        </p:nvPicPr>
        <p:blipFill>
          <a:blip r:embed="rId2"/>
          <a:stretch>
            <a:fillRect/>
          </a:stretch>
        </p:blipFill>
        <p:spPr>
          <a:xfrm>
            <a:off x="222997" y="3563815"/>
            <a:ext cx="5232878" cy="2613148"/>
          </a:xfrm>
          <a:prstGeom prst="rect">
            <a:avLst/>
          </a:prstGeom>
        </p:spPr>
      </p:pic>
      <p:pic>
        <p:nvPicPr>
          <p:cNvPr id="5" name="Picture 4">
            <a:extLst>
              <a:ext uri="{FF2B5EF4-FFF2-40B4-BE49-F238E27FC236}">
                <a16:creationId xmlns:a16="http://schemas.microsoft.com/office/drawing/2014/main" id="{C5C2A851-DD3D-B40E-3874-54369BE36D5F}"/>
              </a:ext>
            </a:extLst>
          </p:cNvPr>
          <p:cNvPicPr>
            <a:picLocks noChangeAspect="1"/>
          </p:cNvPicPr>
          <p:nvPr/>
        </p:nvPicPr>
        <p:blipFill>
          <a:blip r:embed="rId3"/>
          <a:stretch>
            <a:fillRect/>
          </a:stretch>
        </p:blipFill>
        <p:spPr>
          <a:xfrm>
            <a:off x="5820508" y="90687"/>
            <a:ext cx="5605585" cy="3338313"/>
          </a:xfrm>
          <a:prstGeom prst="rect">
            <a:avLst/>
          </a:prstGeom>
        </p:spPr>
      </p:pic>
      <p:sp>
        <p:nvSpPr>
          <p:cNvPr id="6" name="TextBox 5">
            <a:extLst>
              <a:ext uri="{FF2B5EF4-FFF2-40B4-BE49-F238E27FC236}">
                <a16:creationId xmlns:a16="http://schemas.microsoft.com/office/drawing/2014/main" id="{1F59E922-1836-CE26-2F65-D3BCFAE553AD}"/>
              </a:ext>
            </a:extLst>
          </p:cNvPr>
          <p:cNvSpPr txBox="1"/>
          <p:nvPr/>
        </p:nvSpPr>
        <p:spPr>
          <a:xfrm>
            <a:off x="5806831" y="3703438"/>
            <a:ext cx="6162172" cy="3139321"/>
          </a:xfrm>
          <a:prstGeom prst="rect">
            <a:avLst/>
          </a:prstGeom>
          <a:noFill/>
        </p:spPr>
        <p:txBody>
          <a:bodyPr wrap="square" rtlCol="0">
            <a:spAutoFit/>
          </a:bodyPr>
          <a:lstStyle/>
          <a:p>
            <a:r>
              <a:rPr lang="en-US" dirty="0"/>
              <a:t>Wildfire related Q and A RAG system for the public (rather than public officials)</a:t>
            </a:r>
          </a:p>
          <a:p>
            <a:pPr marL="285750" indent="-285750">
              <a:buFontTx/>
              <a:buChar char="-"/>
            </a:pPr>
            <a:r>
              <a:rPr lang="en-US" dirty="0"/>
              <a:t>Normal LLM may grab info from reddit or unofficial sources</a:t>
            </a:r>
          </a:p>
          <a:p>
            <a:pPr marL="285750" indent="-285750">
              <a:buFontTx/>
              <a:buChar char="-"/>
            </a:pPr>
            <a:r>
              <a:rPr lang="en-US" dirty="0"/>
              <a:t>RAG with guidelines helps ground answers to authoritative sources</a:t>
            </a:r>
          </a:p>
          <a:p>
            <a:pPr marL="285750" indent="-285750">
              <a:buFontTx/>
              <a:buChar char="-"/>
            </a:pPr>
            <a:r>
              <a:rPr lang="en-US" b="1" dirty="0"/>
              <a:t>Location aware</a:t>
            </a:r>
          </a:p>
          <a:p>
            <a:pPr marL="742950" lvl="1" indent="-285750">
              <a:buFontTx/>
              <a:buChar char="-"/>
            </a:pPr>
            <a:r>
              <a:rPr lang="en-US" dirty="0"/>
              <a:t>Sometimes no guidelines or relevant passages about a specific location so how can we still offer response but make it clear/known to user- give a trustworthy index or score</a:t>
            </a:r>
          </a:p>
        </p:txBody>
      </p:sp>
      <p:sp>
        <p:nvSpPr>
          <p:cNvPr id="7" name="TextBox 6">
            <a:extLst>
              <a:ext uri="{FF2B5EF4-FFF2-40B4-BE49-F238E27FC236}">
                <a16:creationId xmlns:a16="http://schemas.microsoft.com/office/drawing/2014/main" id="{3030C54A-EC92-3774-CE1C-EE9CB76001B5}"/>
              </a:ext>
            </a:extLst>
          </p:cNvPr>
          <p:cNvSpPr txBox="1"/>
          <p:nvPr/>
        </p:nvSpPr>
        <p:spPr>
          <a:xfrm>
            <a:off x="494820" y="1492738"/>
            <a:ext cx="4689231" cy="2031325"/>
          </a:xfrm>
          <a:prstGeom prst="rect">
            <a:avLst/>
          </a:prstGeom>
          <a:noFill/>
        </p:spPr>
        <p:txBody>
          <a:bodyPr wrap="square" rtlCol="0">
            <a:spAutoFit/>
          </a:bodyPr>
          <a:lstStyle/>
          <a:p>
            <a:r>
              <a:rPr lang="en-US" sz="1400" dirty="0"/>
              <a:t>Existing large language models (LLMs) struggle to provide specific and actionable information to the general public</a:t>
            </a:r>
          </a:p>
          <a:p>
            <a:pPr marL="285750" indent="-285750">
              <a:buFontTx/>
              <a:buChar char="-"/>
            </a:pPr>
            <a:r>
              <a:rPr lang="en-US" sz="1400" dirty="0"/>
              <a:t>often generating responses that lack grounding in authoritative sources</a:t>
            </a:r>
          </a:p>
          <a:p>
            <a:pPr marL="285750" indent="-285750">
              <a:buFontTx/>
              <a:buChar char="-"/>
            </a:pPr>
            <a:r>
              <a:rPr lang="en-US" sz="1400" dirty="0"/>
              <a:t>provide generalized advice unsuitable for specific crises</a:t>
            </a:r>
          </a:p>
          <a:p>
            <a:pPr marL="285750" indent="-285750">
              <a:buFontTx/>
              <a:buChar char="-"/>
            </a:pPr>
            <a:r>
              <a:rPr lang="en-US" sz="1400" dirty="0"/>
              <a:t>suggest unreliable resource locators.</a:t>
            </a:r>
          </a:p>
          <a:p>
            <a:pPr marL="285750" indent="-285750">
              <a:buFontTx/>
              <a:buChar char="-"/>
            </a:pPr>
            <a:r>
              <a:rPr lang="en-US" sz="1400" dirty="0"/>
              <a:t>many decision support systems are catered towards professionals with domain knowledge.</a:t>
            </a:r>
          </a:p>
        </p:txBody>
      </p:sp>
    </p:spTree>
    <p:extLst>
      <p:ext uri="{BB962C8B-B14F-4D97-AF65-F5344CB8AC3E}">
        <p14:creationId xmlns:p14="http://schemas.microsoft.com/office/powerpoint/2010/main" val="15537446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781B94-8034-6A3B-9A08-63C82650730D}"/>
              </a:ext>
            </a:extLst>
          </p:cNvPr>
          <p:cNvSpPr>
            <a:spLocks noGrp="1"/>
          </p:cNvSpPr>
          <p:nvPr>
            <p:ph type="title"/>
          </p:nvPr>
        </p:nvSpPr>
        <p:spPr/>
        <p:txBody>
          <a:bodyPr/>
          <a:lstStyle/>
          <a:p>
            <a:r>
              <a:rPr lang="en-US" dirty="0"/>
              <a:t>Geographical uncertainty quantification</a:t>
            </a:r>
          </a:p>
        </p:txBody>
      </p:sp>
      <p:sp>
        <p:nvSpPr>
          <p:cNvPr id="3" name="Content Placeholder 2">
            <a:extLst>
              <a:ext uri="{FF2B5EF4-FFF2-40B4-BE49-F238E27FC236}">
                <a16:creationId xmlns:a16="http://schemas.microsoft.com/office/drawing/2014/main" id="{101587B0-8EDD-2A4A-939B-B23B3E1E8882}"/>
              </a:ext>
            </a:extLst>
          </p:cNvPr>
          <p:cNvSpPr>
            <a:spLocks noGrp="1"/>
          </p:cNvSpPr>
          <p:nvPr>
            <p:ph idx="1"/>
          </p:nvPr>
        </p:nvSpPr>
        <p:spPr/>
        <p:txBody>
          <a:bodyPr>
            <a:normAutofit fontScale="92500" lnSpcReduction="10000"/>
          </a:bodyPr>
          <a:lstStyle/>
          <a:p>
            <a:r>
              <a:rPr lang="en-US" dirty="0"/>
              <a:t>Geographic granularity is still underexplored dimension of RAG uncertainty measures</a:t>
            </a:r>
          </a:p>
          <a:p>
            <a:pPr lvl="1"/>
            <a:r>
              <a:rPr lang="en-US" dirty="0"/>
              <a:t>Simple distance-based scoring may be insufficient</a:t>
            </a:r>
          </a:p>
          <a:p>
            <a:pPr lvl="2"/>
            <a:r>
              <a:rPr lang="en-US" dirty="0"/>
              <a:t>You can’t just retrieve sources and assume high confidence</a:t>
            </a:r>
          </a:p>
          <a:p>
            <a:pPr lvl="1"/>
            <a:r>
              <a:rPr lang="en-US" dirty="0"/>
              <a:t>Add environmental context similarity</a:t>
            </a:r>
          </a:p>
          <a:p>
            <a:pPr lvl="1"/>
            <a:r>
              <a:rPr lang="en-US" dirty="0"/>
              <a:t>If no documents exist at the city/county level, the RAG should retrieve documents from broader levels and lower its confidence proportionally and vice versa.</a:t>
            </a:r>
          </a:p>
          <a:p>
            <a:r>
              <a:rPr lang="en-US" dirty="0"/>
              <a:t>Query-dependent geographical similarity scoring for RAG uncertainty</a:t>
            </a:r>
          </a:p>
          <a:p>
            <a:pPr lvl="1"/>
            <a:r>
              <a:rPr lang="en-US" dirty="0"/>
              <a:t>Understand how RAG systems assess retrieved passage relevance</a:t>
            </a:r>
          </a:p>
          <a:p>
            <a:pPr lvl="1"/>
            <a:endParaRPr lang="en-US" b="1" dirty="0"/>
          </a:p>
          <a:p>
            <a:r>
              <a:rPr lang="en-US" dirty="0"/>
              <a:t>The dataset - wildfire Q&amp;A benchmark with spatial metadata attached </a:t>
            </a:r>
          </a:p>
          <a:p>
            <a:endParaRPr lang="en-US" dirty="0"/>
          </a:p>
        </p:txBody>
      </p:sp>
    </p:spTree>
    <p:extLst>
      <p:ext uri="{BB962C8B-B14F-4D97-AF65-F5344CB8AC3E}">
        <p14:creationId xmlns:p14="http://schemas.microsoft.com/office/powerpoint/2010/main" val="14277292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D60EF7-DDCC-755E-36C2-2CA160934581}"/>
              </a:ext>
            </a:extLst>
          </p:cNvPr>
          <p:cNvSpPr>
            <a:spLocks noGrp="1"/>
          </p:cNvSpPr>
          <p:nvPr>
            <p:ph type="title"/>
          </p:nvPr>
        </p:nvSpPr>
        <p:spPr/>
        <p:txBody>
          <a:bodyPr/>
          <a:lstStyle/>
          <a:p>
            <a:r>
              <a:rPr lang="en-US" dirty="0"/>
              <a:t>Tasks</a:t>
            </a:r>
          </a:p>
        </p:txBody>
      </p:sp>
      <p:sp>
        <p:nvSpPr>
          <p:cNvPr id="3" name="Content Placeholder 2">
            <a:extLst>
              <a:ext uri="{FF2B5EF4-FFF2-40B4-BE49-F238E27FC236}">
                <a16:creationId xmlns:a16="http://schemas.microsoft.com/office/drawing/2014/main" id="{FE98A151-E08B-388A-7BF3-EAB3DD2490A6}"/>
              </a:ext>
            </a:extLst>
          </p:cNvPr>
          <p:cNvSpPr>
            <a:spLocks noGrp="1"/>
          </p:cNvSpPr>
          <p:nvPr>
            <p:ph idx="1"/>
          </p:nvPr>
        </p:nvSpPr>
        <p:spPr/>
        <p:txBody>
          <a:bodyPr>
            <a:normAutofit fontScale="92500" lnSpcReduction="20000"/>
          </a:bodyPr>
          <a:lstStyle/>
          <a:p>
            <a:r>
              <a:rPr lang="en-US" dirty="0"/>
              <a:t>Compile a more expansive dataset of geographic related wildfire QA</a:t>
            </a:r>
          </a:p>
          <a:p>
            <a:r>
              <a:rPr lang="en-US" dirty="0"/>
              <a:t>Identify best method of extracting locations from passages</a:t>
            </a:r>
          </a:p>
          <a:p>
            <a:r>
              <a:rPr lang="en-US" dirty="0"/>
              <a:t>Label questions based on type of question (i.e., policy, health, informational etc.)</a:t>
            </a:r>
          </a:p>
          <a:p>
            <a:pPr lvl="1"/>
            <a:r>
              <a:rPr lang="en-US" dirty="0"/>
              <a:t>Some questions like evacuation packing list is same is all locations</a:t>
            </a:r>
          </a:p>
          <a:p>
            <a:r>
              <a:rPr lang="en-US" dirty="0"/>
              <a:t>Identify baseline UE measures</a:t>
            </a:r>
          </a:p>
          <a:p>
            <a:r>
              <a:rPr lang="en-US" dirty="0"/>
              <a:t>Identify and come up ideas for best UE measures</a:t>
            </a:r>
          </a:p>
          <a:p>
            <a:r>
              <a:rPr lang="en-US" dirty="0"/>
              <a:t>Identify ways for accounting for sibling relations- different county within same </a:t>
            </a:r>
          </a:p>
          <a:p>
            <a:r>
              <a:rPr lang="en-US" dirty="0"/>
              <a:t>Maybe doing administrative hierarchy for policy questions and geographic uncertainty for other questions</a:t>
            </a:r>
          </a:p>
        </p:txBody>
      </p:sp>
    </p:spTree>
    <p:extLst>
      <p:ext uri="{BB962C8B-B14F-4D97-AF65-F5344CB8AC3E}">
        <p14:creationId xmlns:p14="http://schemas.microsoft.com/office/powerpoint/2010/main" val="40800098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951C76-3981-E6E8-9AE7-9300E12CC94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82152C8-FBE3-3852-2196-57E0110D1948}"/>
              </a:ext>
            </a:extLst>
          </p:cNvPr>
          <p:cNvSpPr>
            <a:spLocks noGrp="1"/>
          </p:cNvSpPr>
          <p:nvPr>
            <p:ph idx="1"/>
          </p:nvPr>
        </p:nvSpPr>
        <p:spPr/>
        <p:txBody>
          <a:bodyPr/>
          <a:lstStyle/>
          <a:p>
            <a:r>
              <a:rPr lang="en-US" dirty="0" err="1"/>
              <a:t>Sigspatial</a:t>
            </a:r>
            <a:endParaRPr lang="en-US" dirty="0"/>
          </a:p>
          <a:p>
            <a:r>
              <a:rPr lang="en-US" dirty="0" err="1"/>
              <a:t>Cikm</a:t>
            </a:r>
            <a:endParaRPr lang="en-US" dirty="0"/>
          </a:p>
          <a:p>
            <a:r>
              <a:rPr lang="en-US" dirty="0" err="1"/>
              <a:t>Ickg</a:t>
            </a:r>
            <a:r>
              <a:rPr lang="en-US" dirty="0"/>
              <a:t> (</a:t>
            </a:r>
            <a:r>
              <a:rPr lang="en-US" dirty="0" err="1"/>
              <a:t>ieee</a:t>
            </a:r>
            <a:r>
              <a:rPr lang="en-US" dirty="0"/>
              <a:t> international conference on </a:t>
            </a:r>
            <a:r>
              <a:rPr lang="en-US"/>
              <a:t>knowledge graph)</a:t>
            </a:r>
            <a:endParaRPr lang="en-US" dirty="0"/>
          </a:p>
          <a:p>
            <a:endParaRPr lang="en-US" dirty="0"/>
          </a:p>
        </p:txBody>
      </p:sp>
    </p:spTree>
    <p:extLst>
      <p:ext uri="{BB962C8B-B14F-4D97-AF65-F5344CB8AC3E}">
        <p14:creationId xmlns:p14="http://schemas.microsoft.com/office/powerpoint/2010/main" val="30337570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4EE75E-5746-8172-9E1D-DD0A929EC61E}"/>
              </a:ext>
            </a:extLst>
          </p:cNvPr>
          <p:cNvSpPr>
            <a:spLocks noGrp="1"/>
          </p:cNvSpPr>
          <p:nvPr>
            <p:ph type="title"/>
          </p:nvPr>
        </p:nvSpPr>
        <p:spPr/>
        <p:txBody>
          <a:bodyPr/>
          <a:lstStyle/>
          <a:p>
            <a:r>
              <a:rPr lang="en-US" dirty="0"/>
              <a:t>April 10 2026</a:t>
            </a:r>
          </a:p>
        </p:txBody>
      </p:sp>
      <p:sp>
        <p:nvSpPr>
          <p:cNvPr id="3" name="Content Placeholder 2">
            <a:extLst>
              <a:ext uri="{FF2B5EF4-FFF2-40B4-BE49-F238E27FC236}">
                <a16:creationId xmlns:a16="http://schemas.microsoft.com/office/drawing/2014/main" id="{07F66769-576D-12FF-C8D4-12FB434053CD}"/>
              </a:ext>
            </a:extLst>
          </p:cNvPr>
          <p:cNvSpPr>
            <a:spLocks noGrp="1"/>
          </p:cNvSpPr>
          <p:nvPr>
            <p:ph idx="1"/>
          </p:nvPr>
        </p:nvSpPr>
        <p:spPr>
          <a:xfrm>
            <a:off x="838200" y="1825625"/>
            <a:ext cx="4282440" cy="4351338"/>
          </a:xfrm>
        </p:spPr>
        <p:txBody>
          <a:bodyPr numCol="1">
            <a:normAutofit fontScale="92500"/>
          </a:bodyPr>
          <a:lstStyle/>
          <a:p>
            <a:r>
              <a:rPr lang="en-US" sz="1800" dirty="0"/>
              <a:t>Address reliability of news sources</a:t>
            </a:r>
          </a:p>
          <a:p>
            <a:pPr lvl="1"/>
            <a:r>
              <a:rPr lang="en-US" sz="1600" dirty="0"/>
              <a:t>How?</a:t>
            </a:r>
          </a:p>
          <a:p>
            <a:pPr lvl="2"/>
            <a:r>
              <a:rPr lang="en-US" sz="1400" dirty="0"/>
              <a:t>I filter news articles to commonly reputable domains (.gov, .org, and major)</a:t>
            </a:r>
          </a:p>
          <a:p>
            <a:r>
              <a:rPr lang="en-US" sz="1800" dirty="0"/>
              <a:t>Instead of chunking based on set number of tokens, I use semantic splitter so that similarly texts and sentences stay together</a:t>
            </a:r>
          </a:p>
          <a:p>
            <a:r>
              <a:rPr lang="en-US" sz="1800" dirty="0" err="1"/>
              <a:t>GeoExtraction</a:t>
            </a:r>
            <a:endParaRPr lang="en-US" sz="1800" dirty="0"/>
          </a:p>
          <a:p>
            <a:pPr lvl="1"/>
            <a:r>
              <a:rPr lang="en-US" sz="1400" dirty="0"/>
              <a:t>Looked at 2 geo extractors: </a:t>
            </a:r>
            <a:r>
              <a:rPr lang="en-US" sz="1400" dirty="0" err="1"/>
              <a:t>FlairNER</a:t>
            </a:r>
            <a:r>
              <a:rPr lang="en-US" sz="1400" dirty="0"/>
              <a:t> and </a:t>
            </a:r>
            <a:r>
              <a:rPr lang="en-US" sz="1400" dirty="0" err="1"/>
              <a:t>bertbase</a:t>
            </a:r>
            <a:r>
              <a:rPr lang="en-US" sz="1400" dirty="0"/>
              <a:t> NER</a:t>
            </a:r>
          </a:p>
          <a:p>
            <a:pPr lvl="2"/>
            <a:r>
              <a:rPr lang="en-US" sz="1000" dirty="0" err="1"/>
              <a:t>FlairNER</a:t>
            </a:r>
            <a:r>
              <a:rPr lang="en-US" sz="1000" dirty="0"/>
              <a:t> seemed to perform much better</a:t>
            </a:r>
          </a:p>
          <a:p>
            <a:pPr lvl="1"/>
            <a:r>
              <a:rPr lang="en-US" sz="1400" b="1" dirty="0">
                <a:solidFill>
                  <a:schemeClr val="tx2">
                    <a:lumMod val="75000"/>
                    <a:lumOff val="25000"/>
                  </a:schemeClr>
                </a:solidFill>
              </a:rPr>
              <a:t>Issue to discuss:</a:t>
            </a:r>
          </a:p>
          <a:p>
            <a:pPr lvl="2"/>
            <a:r>
              <a:rPr lang="en-US" sz="1000" b="1" dirty="0">
                <a:solidFill>
                  <a:schemeClr val="tx2">
                    <a:lumMod val="75000"/>
                    <a:lumOff val="25000"/>
                  </a:schemeClr>
                </a:solidFill>
              </a:rPr>
              <a:t>For example I have a text like “Unlike New Mexico, Texas wildfires are much more severe” How can I get Texas instead of both New Mexico and Texas</a:t>
            </a:r>
          </a:p>
          <a:p>
            <a:pPr lvl="2"/>
            <a:r>
              <a:rPr lang="en-US" sz="1000" b="1" dirty="0">
                <a:solidFill>
                  <a:schemeClr val="tx2">
                    <a:lumMod val="75000"/>
                    <a:lumOff val="25000"/>
                  </a:schemeClr>
                </a:solidFill>
              </a:rPr>
              <a:t>NER methods get both. I think the other option is LLM</a:t>
            </a:r>
          </a:p>
          <a:p>
            <a:pPr lvl="2"/>
            <a:r>
              <a:rPr lang="en-US" sz="1000" b="1" dirty="0">
                <a:solidFill>
                  <a:schemeClr val="tx2">
                    <a:lumMod val="75000"/>
                    <a:lumOff val="25000"/>
                  </a:schemeClr>
                </a:solidFill>
              </a:rPr>
              <a:t>500 manually labeled data </a:t>
            </a:r>
            <a:r>
              <a:rPr lang="en-US" sz="1000" b="1" dirty="0" err="1">
                <a:solidFill>
                  <a:schemeClr val="tx2">
                    <a:lumMod val="75000"/>
                    <a:lumOff val="25000"/>
                  </a:schemeClr>
                </a:solidFill>
              </a:rPr>
              <a:t>ner</a:t>
            </a:r>
            <a:r>
              <a:rPr lang="en-US" sz="1000" b="1" dirty="0">
                <a:solidFill>
                  <a:schemeClr val="tx2">
                    <a:lumMod val="75000"/>
                    <a:lumOff val="25000"/>
                  </a:schemeClr>
                </a:solidFill>
              </a:rPr>
              <a:t> and ai model compare on manually labeled data as a way to validate</a:t>
            </a:r>
          </a:p>
        </p:txBody>
      </p:sp>
      <p:graphicFrame>
        <p:nvGraphicFramePr>
          <p:cNvPr id="4" name="Table 3">
            <a:extLst>
              <a:ext uri="{FF2B5EF4-FFF2-40B4-BE49-F238E27FC236}">
                <a16:creationId xmlns:a16="http://schemas.microsoft.com/office/drawing/2014/main" id="{00466F39-B344-37DC-AEE9-C6DEF1CEEE70}"/>
              </a:ext>
            </a:extLst>
          </p:cNvPr>
          <p:cNvGraphicFramePr>
            <a:graphicFrameLocks noGrp="1"/>
          </p:cNvGraphicFramePr>
          <p:nvPr>
            <p:extLst>
              <p:ext uri="{D42A27DB-BD31-4B8C-83A1-F6EECF244321}">
                <p14:modId xmlns:p14="http://schemas.microsoft.com/office/powerpoint/2010/main" val="1176783369"/>
              </p:ext>
            </p:extLst>
          </p:nvPr>
        </p:nvGraphicFramePr>
        <p:xfrm>
          <a:off x="5286103" y="1403305"/>
          <a:ext cx="6635931" cy="3428591"/>
        </p:xfrm>
        <a:graphic>
          <a:graphicData uri="http://schemas.openxmlformats.org/drawingml/2006/table">
            <a:tbl>
              <a:tblPr>
                <a:tableStyleId>{7DF18680-E054-41AD-8BC1-D1AEF772440D}</a:tableStyleId>
              </a:tblPr>
              <a:tblGrid>
                <a:gridCol w="1994263">
                  <a:extLst>
                    <a:ext uri="{9D8B030D-6E8A-4147-A177-3AD203B41FA5}">
                      <a16:colId xmlns:a16="http://schemas.microsoft.com/office/drawing/2014/main" val="4183587337"/>
                    </a:ext>
                  </a:extLst>
                </a:gridCol>
                <a:gridCol w="4641668">
                  <a:extLst>
                    <a:ext uri="{9D8B030D-6E8A-4147-A177-3AD203B41FA5}">
                      <a16:colId xmlns:a16="http://schemas.microsoft.com/office/drawing/2014/main" val="1748190496"/>
                    </a:ext>
                  </a:extLst>
                </a:gridCol>
              </a:tblGrid>
              <a:tr h="307249">
                <a:tc>
                  <a:txBody>
                    <a:bodyPr/>
                    <a:lstStyle/>
                    <a:p>
                      <a:pPr>
                        <a:buNone/>
                      </a:pPr>
                      <a:r>
                        <a:rPr lang="en-US" sz="1100" b="1" dirty="0"/>
                        <a:t>Category</a:t>
                      </a:r>
                    </a:p>
                  </a:txBody>
                  <a:tcPr marL="73751" marR="73751" marT="36876" marB="36876" anchor="ctr"/>
                </a:tc>
                <a:tc>
                  <a:txBody>
                    <a:bodyPr/>
                    <a:lstStyle/>
                    <a:p>
                      <a:pPr>
                        <a:buNone/>
                      </a:pPr>
                      <a:r>
                        <a:rPr lang="en-US" sz="1100" b="1" dirty="0"/>
                        <a:t>Domains</a:t>
                      </a:r>
                    </a:p>
                  </a:txBody>
                  <a:tcPr marL="73751" marR="73751" marT="36876" marB="36876" anchor="ctr"/>
                </a:tc>
                <a:extLst>
                  <a:ext uri="{0D108BD9-81ED-4DB2-BD59-A6C34878D82A}">
                    <a16:rowId xmlns:a16="http://schemas.microsoft.com/office/drawing/2014/main" val="4054974641"/>
                  </a:ext>
                </a:extLst>
              </a:tr>
              <a:tr h="307249">
                <a:tc>
                  <a:txBody>
                    <a:bodyPr/>
                    <a:lstStyle/>
                    <a:p>
                      <a:pPr>
                        <a:buNone/>
                      </a:pPr>
                      <a:r>
                        <a:rPr lang="en-US" sz="1100" dirty="0"/>
                        <a:t>Primary Sources</a:t>
                      </a:r>
                    </a:p>
                  </a:txBody>
                  <a:tcPr marL="73751" marR="73751" marT="36876" marB="36876" anchor="ctr"/>
                </a:tc>
                <a:tc>
                  <a:txBody>
                    <a:bodyPr/>
                    <a:lstStyle/>
                    <a:p>
                      <a:pPr>
                        <a:buNone/>
                      </a:pPr>
                      <a:r>
                        <a:rPr lang="en-US" sz="1100"/>
                        <a:t>apnews.com, reuters.com, afp.com, upi.com</a:t>
                      </a:r>
                    </a:p>
                  </a:txBody>
                  <a:tcPr marL="73751" marR="73751" marT="36876" marB="36876" anchor="ctr"/>
                </a:tc>
                <a:extLst>
                  <a:ext uri="{0D108BD9-81ED-4DB2-BD59-A6C34878D82A}">
                    <a16:rowId xmlns:a16="http://schemas.microsoft.com/office/drawing/2014/main" val="3526063531"/>
                  </a:ext>
                </a:extLst>
              </a:tr>
              <a:tr h="539551">
                <a:tc>
                  <a:txBody>
                    <a:bodyPr/>
                    <a:lstStyle/>
                    <a:p>
                      <a:pPr>
                        <a:buNone/>
                      </a:pPr>
                      <a:r>
                        <a:rPr lang="en-US" sz="1100"/>
                        <a:t>National U.S. Newspapers</a:t>
                      </a:r>
                    </a:p>
                  </a:txBody>
                  <a:tcPr marL="73751" marR="73751" marT="36876" marB="36876" anchor="ctr"/>
                </a:tc>
                <a:tc>
                  <a:txBody>
                    <a:bodyPr/>
                    <a:lstStyle/>
                    <a:p>
                      <a:pPr>
                        <a:buNone/>
                      </a:pPr>
                      <a:r>
                        <a:rPr lang="en-US" sz="1100"/>
                        <a:t>nytimes.com, washingtonpost.com, wsj.com, usatoday.com, npr.org</a:t>
                      </a:r>
                    </a:p>
                  </a:txBody>
                  <a:tcPr marL="73751" marR="73751" marT="36876" marB="36876" anchor="ctr"/>
                </a:tc>
                <a:extLst>
                  <a:ext uri="{0D108BD9-81ED-4DB2-BD59-A6C34878D82A}">
                    <a16:rowId xmlns:a16="http://schemas.microsoft.com/office/drawing/2014/main" val="2624037141"/>
                  </a:ext>
                </a:extLst>
              </a:tr>
              <a:tr h="987035">
                <a:tc>
                  <a:txBody>
                    <a:bodyPr/>
                    <a:lstStyle/>
                    <a:p>
                      <a:pPr>
                        <a:buNone/>
                      </a:pPr>
                      <a:r>
                        <a:rPr lang="en-US" sz="1100" dirty="0"/>
                        <a:t>Major Regional Newspapers</a:t>
                      </a:r>
                    </a:p>
                  </a:txBody>
                  <a:tcPr marL="73751" marR="73751" marT="36876" marB="36876" anchor="ctr"/>
                </a:tc>
                <a:tc>
                  <a:txBody>
                    <a:bodyPr/>
                    <a:lstStyle/>
                    <a:p>
                      <a:pPr>
                        <a:buNone/>
                      </a:pPr>
                      <a:r>
                        <a:rPr lang="en-US" sz="1100" dirty="0" err="1"/>
                        <a:t>chicagotribune.com</a:t>
                      </a:r>
                      <a:r>
                        <a:rPr lang="en-US" sz="1100" dirty="0"/>
                        <a:t>, </a:t>
                      </a:r>
                      <a:r>
                        <a:rPr lang="en-US" sz="1100" dirty="0" err="1"/>
                        <a:t>latimes.com</a:t>
                      </a:r>
                      <a:r>
                        <a:rPr lang="en-US" sz="1100" dirty="0"/>
                        <a:t>, </a:t>
                      </a:r>
                      <a:r>
                        <a:rPr lang="en-US" sz="1100" dirty="0" err="1"/>
                        <a:t>bostonglobe.com</a:t>
                      </a:r>
                      <a:r>
                        <a:rPr lang="en-US" sz="1100" dirty="0"/>
                        <a:t>, </a:t>
                      </a:r>
                      <a:r>
                        <a:rPr lang="en-US" sz="1100" dirty="0" err="1"/>
                        <a:t>dallasnews.com</a:t>
                      </a:r>
                      <a:r>
                        <a:rPr lang="en-US" sz="1100" dirty="0"/>
                        <a:t>, </a:t>
                      </a:r>
                      <a:r>
                        <a:rPr lang="en-US" sz="1100" dirty="0" err="1"/>
                        <a:t>sfchronicle.com</a:t>
                      </a:r>
                      <a:r>
                        <a:rPr lang="en-US" sz="1100" dirty="0"/>
                        <a:t>, </a:t>
                      </a:r>
                      <a:r>
                        <a:rPr lang="en-US" sz="1100" dirty="0" err="1"/>
                        <a:t>denverpost.com</a:t>
                      </a:r>
                      <a:r>
                        <a:rPr lang="en-US" sz="1100" dirty="0"/>
                        <a:t>, </a:t>
                      </a:r>
                      <a:r>
                        <a:rPr lang="en-US" sz="1100" dirty="0" err="1"/>
                        <a:t>seattletimes.com</a:t>
                      </a:r>
                      <a:r>
                        <a:rPr lang="en-US" sz="1100" dirty="0"/>
                        <a:t>, </a:t>
                      </a:r>
                      <a:r>
                        <a:rPr lang="en-US" sz="1100" dirty="0" err="1"/>
                        <a:t>startribune.com</a:t>
                      </a:r>
                      <a:r>
                        <a:rPr lang="en-US" sz="1100" dirty="0"/>
                        <a:t>, </a:t>
                      </a:r>
                      <a:r>
                        <a:rPr lang="en-US" sz="1100" dirty="0" err="1"/>
                        <a:t>tampabay.com</a:t>
                      </a:r>
                      <a:r>
                        <a:rPr lang="en-US" sz="1100" dirty="0"/>
                        <a:t>, </a:t>
                      </a:r>
                      <a:r>
                        <a:rPr lang="en-US" sz="1100" dirty="0" err="1"/>
                        <a:t>miamiherald.com</a:t>
                      </a:r>
                      <a:r>
                        <a:rPr lang="en-US" sz="1100" dirty="0"/>
                        <a:t>, </a:t>
                      </a:r>
                      <a:r>
                        <a:rPr lang="en-US" sz="1100" dirty="0" err="1"/>
                        <a:t>houstonchronicle.com</a:t>
                      </a:r>
                      <a:r>
                        <a:rPr lang="en-US" sz="1100" dirty="0"/>
                        <a:t>, </a:t>
                      </a:r>
                      <a:r>
                        <a:rPr lang="en-US" sz="1100" dirty="0" err="1"/>
                        <a:t>inquirer.com</a:t>
                      </a:r>
                      <a:r>
                        <a:rPr lang="en-US" sz="1100" dirty="0"/>
                        <a:t>, </a:t>
                      </a:r>
                      <a:r>
                        <a:rPr lang="en-US" sz="1100" dirty="0" err="1"/>
                        <a:t>baltimoresun.com</a:t>
                      </a:r>
                      <a:r>
                        <a:rPr lang="en-US" sz="1100" dirty="0"/>
                        <a:t>, </a:t>
                      </a:r>
                      <a:r>
                        <a:rPr lang="en-US" sz="1100" dirty="0" err="1"/>
                        <a:t>sandiegouniontribune.com</a:t>
                      </a:r>
                      <a:r>
                        <a:rPr lang="en-US" sz="1100" dirty="0"/>
                        <a:t>, </a:t>
                      </a:r>
                      <a:r>
                        <a:rPr lang="en-US" sz="1100" dirty="0" err="1"/>
                        <a:t>oregonlive.com</a:t>
                      </a:r>
                      <a:endParaRPr lang="en-US" sz="1100" dirty="0"/>
                    </a:p>
                  </a:txBody>
                  <a:tcPr marL="73751" marR="73751" marT="36876" marB="36876" anchor="ctr"/>
                </a:tc>
                <a:extLst>
                  <a:ext uri="{0D108BD9-81ED-4DB2-BD59-A6C34878D82A}">
                    <a16:rowId xmlns:a16="http://schemas.microsoft.com/office/drawing/2014/main" val="4087822322"/>
                  </a:ext>
                </a:extLst>
              </a:tr>
              <a:tr h="365760">
                <a:tc>
                  <a:txBody>
                    <a:bodyPr/>
                    <a:lstStyle/>
                    <a:p>
                      <a:pPr>
                        <a:buNone/>
                      </a:pPr>
                      <a:r>
                        <a:rPr lang="en-US" sz="1100" dirty="0"/>
                        <a:t>Major International</a:t>
                      </a:r>
                    </a:p>
                  </a:txBody>
                  <a:tcPr marL="73751" marR="73751" marT="36876" marB="36876" anchor="ctr"/>
                </a:tc>
                <a:tc>
                  <a:txBody>
                    <a:bodyPr/>
                    <a:lstStyle/>
                    <a:p>
                      <a:pPr>
                        <a:buNone/>
                      </a:pPr>
                      <a:r>
                        <a:rPr lang="en-US" sz="1100"/>
                        <a:t>theguardian.com, ft.com, economist.com, abc.net.au, cbc.ca</a:t>
                      </a:r>
                    </a:p>
                  </a:txBody>
                  <a:tcPr marL="73751" marR="73751" marT="36876" marB="36876" anchor="ctr"/>
                </a:tc>
                <a:extLst>
                  <a:ext uri="{0D108BD9-81ED-4DB2-BD59-A6C34878D82A}">
                    <a16:rowId xmlns:a16="http://schemas.microsoft.com/office/drawing/2014/main" val="378751225"/>
                  </a:ext>
                </a:extLst>
              </a:tr>
              <a:tr h="307249">
                <a:tc>
                  <a:txBody>
                    <a:bodyPr/>
                    <a:lstStyle/>
                    <a:p>
                      <a:pPr>
                        <a:buNone/>
                      </a:pPr>
                      <a:r>
                        <a:rPr lang="en-US" sz="1100"/>
                        <a:t>Investigative / Long-form</a:t>
                      </a:r>
                    </a:p>
                  </a:txBody>
                  <a:tcPr marL="73751" marR="73751" marT="36876" marB="36876" anchor="ctr"/>
                </a:tc>
                <a:tc>
                  <a:txBody>
                    <a:bodyPr/>
                    <a:lstStyle/>
                    <a:p>
                      <a:pPr>
                        <a:buNone/>
                      </a:pPr>
                      <a:r>
                        <a:rPr lang="en-US" sz="1100"/>
                        <a:t>propublica.org, theatlantic.com</a:t>
                      </a:r>
                    </a:p>
                  </a:txBody>
                  <a:tcPr marL="73751" marR="73751" marT="36876" marB="36876" anchor="ctr"/>
                </a:tc>
                <a:extLst>
                  <a:ext uri="{0D108BD9-81ED-4DB2-BD59-A6C34878D82A}">
                    <a16:rowId xmlns:a16="http://schemas.microsoft.com/office/drawing/2014/main" val="432801050"/>
                  </a:ext>
                </a:extLst>
              </a:tr>
              <a:tr h="307249">
                <a:tc>
                  <a:txBody>
                    <a:bodyPr/>
                    <a:lstStyle/>
                    <a:p>
                      <a:pPr>
                        <a:buNone/>
                      </a:pPr>
                      <a:r>
                        <a:rPr lang="en-US" sz="1100"/>
                        <a:t>Fire / Disaster Specific</a:t>
                      </a:r>
                    </a:p>
                  </a:txBody>
                  <a:tcPr marL="73751" marR="73751" marT="36876" marB="36876" anchor="ctr"/>
                </a:tc>
                <a:tc>
                  <a:txBody>
                    <a:bodyPr/>
                    <a:lstStyle/>
                    <a:p>
                      <a:pPr>
                        <a:buNone/>
                      </a:pPr>
                      <a:r>
                        <a:rPr lang="en-US" sz="1100"/>
                        <a:t>wildfiretoday.com</a:t>
                      </a:r>
                    </a:p>
                  </a:txBody>
                  <a:tcPr marL="73751" marR="73751" marT="36876" marB="36876" anchor="ctr"/>
                </a:tc>
                <a:extLst>
                  <a:ext uri="{0D108BD9-81ED-4DB2-BD59-A6C34878D82A}">
                    <a16:rowId xmlns:a16="http://schemas.microsoft.com/office/drawing/2014/main" val="3860897538"/>
                  </a:ext>
                </a:extLst>
              </a:tr>
              <a:tr h="307249">
                <a:tc>
                  <a:txBody>
                    <a:bodyPr/>
                    <a:lstStyle/>
                    <a:p>
                      <a:pPr>
                        <a:buNone/>
                      </a:pPr>
                      <a:r>
                        <a:rPr lang="en-US" sz="1100"/>
                        <a:t>Government</a:t>
                      </a:r>
                    </a:p>
                  </a:txBody>
                  <a:tcPr marL="73751" marR="73751" marT="36876" marB="36876" anchor="ctr"/>
                </a:tc>
                <a:tc>
                  <a:txBody>
                    <a:bodyPr/>
                    <a:lstStyle/>
                    <a:p>
                      <a:pPr>
                        <a:buNone/>
                      </a:pPr>
                      <a:r>
                        <a:rPr lang="en-US" sz="1100" dirty="0"/>
                        <a:t>.gov, .org</a:t>
                      </a:r>
                    </a:p>
                  </a:txBody>
                  <a:tcPr marL="73751" marR="73751" marT="36876" marB="36876" anchor="ctr"/>
                </a:tc>
                <a:extLst>
                  <a:ext uri="{0D108BD9-81ED-4DB2-BD59-A6C34878D82A}">
                    <a16:rowId xmlns:a16="http://schemas.microsoft.com/office/drawing/2014/main" val="1494505703"/>
                  </a:ext>
                </a:extLst>
              </a:tr>
            </a:tbl>
          </a:graphicData>
        </a:graphic>
      </p:graphicFrame>
    </p:spTree>
    <p:extLst>
      <p:ext uri="{BB962C8B-B14F-4D97-AF65-F5344CB8AC3E}">
        <p14:creationId xmlns:p14="http://schemas.microsoft.com/office/powerpoint/2010/main" val="36623511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03C8F7-D2A1-1BEF-A0B5-20E247E54D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625EDC-ED8C-067D-FE06-802E7EEBA492}"/>
              </a:ext>
            </a:extLst>
          </p:cNvPr>
          <p:cNvSpPr>
            <a:spLocks noGrp="1"/>
          </p:cNvSpPr>
          <p:nvPr>
            <p:ph type="title"/>
          </p:nvPr>
        </p:nvSpPr>
        <p:spPr/>
        <p:txBody>
          <a:bodyPr/>
          <a:lstStyle/>
          <a:p>
            <a:r>
              <a:rPr lang="en-US" dirty="0"/>
              <a:t>April 10 2026</a:t>
            </a:r>
          </a:p>
        </p:txBody>
      </p:sp>
      <p:sp>
        <p:nvSpPr>
          <p:cNvPr id="3" name="Content Placeholder 2">
            <a:extLst>
              <a:ext uri="{FF2B5EF4-FFF2-40B4-BE49-F238E27FC236}">
                <a16:creationId xmlns:a16="http://schemas.microsoft.com/office/drawing/2014/main" id="{AFBB74A9-0CF0-35C8-CED0-1758C9F5C066}"/>
              </a:ext>
            </a:extLst>
          </p:cNvPr>
          <p:cNvSpPr>
            <a:spLocks noGrp="1"/>
          </p:cNvSpPr>
          <p:nvPr>
            <p:ph idx="1"/>
          </p:nvPr>
        </p:nvSpPr>
        <p:spPr>
          <a:xfrm>
            <a:off x="838199" y="1825625"/>
            <a:ext cx="4796247" cy="4351338"/>
          </a:xfrm>
        </p:spPr>
        <p:txBody>
          <a:bodyPr numCol="1">
            <a:normAutofit fontScale="62500" lnSpcReduction="20000"/>
          </a:bodyPr>
          <a:lstStyle/>
          <a:p>
            <a:r>
              <a:rPr lang="en-US" sz="2400" dirty="0"/>
              <a:t>I went through the questions answer dataset and manually labeled 2 things</a:t>
            </a:r>
          </a:p>
          <a:p>
            <a:pPr lvl="1"/>
            <a:r>
              <a:rPr lang="en-US" sz="1400" dirty="0"/>
              <a:t>1. Category</a:t>
            </a:r>
          </a:p>
          <a:p>
            <a:pPr lvl="2"/>
            <a:r>
              <a:rPr lang="en-US" sz="1400" dirty="0"/>
              <a:t>"1. General Wildfire behavior: causes, spread, fire science, smoke behavior, seasons, risk factors.\n"</a:t>
            </a:r>
          </a:p>
          <a:p>
            <a:pPr lvl="2"/>
            <a:r>
              <a:rPr lang="en-US" sz="1400" dirty="0"/>
              <a:t>"2. Home and property: protecting homes, defensible space, structures, insurance for homes, property damage.\n"</a:t>
            </a:r>
          </a:p>
          <a:p>
            <a:pPr lvl="2"/>
            <a:r>
              <a:rPr lang="en-US" sz="1400" dirty="0"/>
              <a:t>"3. Codes and Regulations: laws, building codes, permit rules, compliance requirements, official regulations.\n"</a:t>
            </a:r>
          </a:p>
          <a:p>
            <a:pPr lvl="2"/>
            <a:r>
              <a:rPr lang="en-US" sz="1400" dirty="0"/>
              <a:t>"4. Specific fire event: questions about a named wildfire, a particular incident, location-specific active or past fire.\n"</a:t>
            </a:r>
          </a:p>
          <a:p>
            <a:pPr lvl="2"/>
            <a:r>
              <a:rPr lang="en-US" sz="1400" dirty="0"/>
              <a:t>"5. Community: questions about how the community can help, community-level impacts.\n"</a:t>
            </a:r>
          </a:p>
          <a:p>
            <a:pPr lvl="2"/>
            <a:r>
              <a:rPr lang="en-US" sz="1400" dirty="0"/>
              <a:t>"6. Land: forests, vegetation, soil, erosion, watersheds, land management, acreage, habitat.\n"</a:t>
            </a:r>
          </a:p>
          <a:p>
            <a:pPr lvl="2"/>
            <a:r>
              <a:rPr lang="en-US" sz="1400" dirty="0"/>
              <a:t>"7. Finance: grants, loans, compensation, taxes, financial aid, business loss, economic cost.\n"</a:t>
            </a:r>
          </a:p>
          <a:p>
            <a:pPr lvl="2"/>
            <a:r>
              <a:rPr lang="en-US" sz="1400" dirty="0"/>
              <a:t>"8. Wildfire response and prevention: evacuation, preparedness, mitigation, fuel reduction, emergency response.\n"</a:t>
            </a:r>
          </a:p>
          <a:p>
            <a:pPr lvl="2"/>
            <a:r>
              <a:rPr lang="en-US" sz="1400" dirty="0"/>
              <a:t>"9. Wildfire recovery: debris removal, rebuilding, restoration, post-fire recovery steps, returning after fire.\n"</a:t>
            </a:r>
          </a:p>
          <a:p>
            <a:pPr lvl="2"/>
            <a:r>
              <a:rPr lang="en-US" sz="1400" dirty="0"/>
              <a:t>"10. Health and Safety: smoke exposure, breathing, injury, health risks, safety precautions for people.\n"</a:t>
            </a:r>
          </a:p>
          <a:p>
            <a:pPr lvl="2"/>
            <a:r>
              <a:rPr lang="en-US" sz="1400" dirty="0"/>
              <a:t>"11. Informational: general factual or definitional questions that do not fit the other categories strongly.\n\n"</a:t>
            </a:r>
            <a:endParaRPr lang="en-US" sz="2600" dirty="0"/>
          </a:p>
          <a:p>
            <a:pPr lvl="2"/>
            <a:endParaRPr lang="en-US" sz="1000" dirty="0"/>
          </a:p>
          <a:p>
            <a:pPr lvl="1"/>
            <a:r>
              <a:rPr lang="en-US" sz="1400" dirty="0"/>
              <a:t>2. Does it require knowledge of exact location</a:t>
            </a:r>
          </a:p>
          <a:p>
            <a:r>
              <a:rPr lang="en-US" sz="2400" dirty="0"/>
              <a:t>Then, I repeated the same process but asked </a:t>
            </a:r>
            <a:r>
              <a:rPr lang="en-US" sz="2400" dirty="0" err="1"/>
              <a:t>llm</a:t>
            </a:r>
            <a:r>
              <a:rPr lang="en-US" sz="2400" dirty="0"/>
              <a:t> to label it</a:t>
            </a:r>
          </a:p>
        </p:txBody>
      </p:sp>
      <p:sp>
        <p:nvSpPr>
          <p:cNvPr id="6" name="Rectangle 5">
            <a:extLst>
              <a:ext uri="{FF2B5EF4-FFF2-40B4-BE49-F238E27FC236}">
                <a16:creationId xmlns:a16="http://schemas.microsoft.com/office/drawing/2014/main" id="{A852C52E-E341-29A2-942E-71CE13E5ED5D}"/>
              </a:ext>
            </a:extLst>
          </p:cNvPr>
          <p:cNvSpPr/>
          <p:nvPr/>
        </p:nvSpPr>
        <p:spPr>
          <a:xfrm>
            <a:off x="7149738" y="365125"/>
            <a:ext cx="3666308" cy="2603863"/>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100" dirty="0">
                <a:solidFill>
                  <a:schemeClr val="tx1"/>
                </a:solidFill>
              </a:rPr>
              <a:t>"role": "system",</a:t>
            </a:r>
          </a:p>
          <a:p>
            <a:r>
              <a:rPr lang="en-US" sz="1100" dirty="0">
                <a:solidFill>
                  <a:schemeClr val="tx1"/>
                </a:solidFill>
              </a:rPr>
              <a:t>"content": (</a:t>
            </a:r>
          </a:p>
          <a:p>
            <a:r>
              <a:rPr lang="en-US" sz="1100" dirty="0">
                <a:solidFill>
                  <a:schemeClr val="tx1"/>
                </a:solidFill>
              </a:rPr>
              <a:t>"You are given a question-answer pair. "</a:t>
            </a:r>
          </a:p>
          <a:p>
            <a:r>
              <a:rPr lang="en-US" sz="1100" dirty="0">
                <a:solidFill>
                  <a:schemeClr val="tx1"/>
                </a:solidFill>
              </a:rPr>
              <a:t>"Determine whether answering the question correctly requires "</a:t>
            </a:r>
          </a:p>
          <a:p>
            <a:r>
              <a:rPr lang="en-US" sz="1100" dirty="0">
                <a:solidFill>
                  <a:schemeClr val="tx1"/>
                </a:solidFill>
              </a:rPr>
              <a:t>"knowledge of a specific geographic location, such as a city, county, state, region, or named fire area.\n\n"</a:t>
            </a:r>
          </a:p>
          <a:p>
            <a:r>
              <a:rPr lang="en-US" sz="1100" dirty="0">
                <a:solidFill>
                  <a:schemeClr val="tx1"/>
                </a:solidFill>
              </a:rPr>
              <a:t>"Answer YES if the question depends on place-specific facts.\n"</a:t>
            </a:r>
          </a:p>
          <a:p>
            <a:r>
              <a:rPr lang="en-US" sz="1100" dirty="0">
                <a:solidFill>
                  <a:schemeClr val="tx1"/>
                </a:solidFill>
              </a:rPr>
              <a:t>"Answer NO if the question can be answered generally without location-specific knowledge.\n\n"</a:t>
            </a:r>
          </a:p>
          <a:p>
            <a:r>
              <a:rPr lang="en-US" sz="1100" dirty="0">
                <a:solidFill>
                  <a:schemeClr val="tx1"/>
                </a:solidFill>
              </a:rPr>
              <a:t>"Rules:\n"</a:t>
            </a:r>
          </a:p>
          <a:p>
            <a:r>
              <a:rPr lang="en-US" sz="1100" dirty="0">
                <a:solidFill>
                  <a:schemeClr val="tx1"/>
                </a:solidFill>
              </a:rPr>
              <a:t>"- Return only YES or NO.\n"</a:t>
            </a:r>
          </a:p>
          <a:p>
            <a:r>
              <a:rPr lang="en-US" sz="1100" dirty="0">
                <a:solidFill>
                  <a:schemeClr val="tx1"/>
                </a:solidFill>
              </a:rPr>
              <a:t>"- Do not explain your choice."</a:t>
            </a:r>
          </a:p>
        </p:txBody>
      </p:sp>
      <p:sp>
        <p:nvSpPr>
          <p:cNvPr id="7" name="Rectangle 6">
            <a:extLst>
              <a:ext uri="{FF2B5EF4-FFF2-40B4-BE49-F238E27FC236}">
                <a16:creationId xmlns:a16="http://schemas.microsoft.com/office/drawing/2014/main" id="{714DFE69-40A9-5AA2-0371-4EC0EFDC0611}"/>
              </a:ext>
            </a:extLst>
          </p:cNvPr>
          <p:cNvSpPr/>
          <p:nvPr/>
        </p:nvSpPr>
        <p:spPr>
          <a:xfrm>
            <a:off x="7149737" y="3429000"/>
            <a:ext cx="3666307" cy="2603863"/>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50" dirty="0">
                <a:solidFill>
                  <a:schemeClr val="tx1"/>
                </a:solidFill>
              </a:rPr>
              <a:t>"role": "system",</a:t>
            </a:r>
          </a:p>
          <a:p>
            <a:r>
              <a:rPr lang="en-US" sz="1050" dirty="0">
                <a:solidFill>
                  <a:schemeClr val="tx1"/>
                </a:solidFill>
              </a:rPr>
              <a:t>"content": (</a:t>
            </a:r>
          </a:p>
          <a:p>
            <a:r>
              <a:rPr lang="en-US" sz="1050" dirty="0">
                <a:solidFill>
                  <a:schemeClr val="tx1"/>
                </a:solidFill>
              </a:rPr>
              <a:t>"You are given a question. "</a:t>
            </a:r>
          </a:p>
          <a:p>
            <a:r>
              <a:rPr lang="en-US" sz="1050" dirty="0">
                <a:solidFill>
                  <a:schemeClr val="tx1"/>
                </a:solidFill>
              </a:rPr>
              <a:t>"Classify the QUESTION into exactly one category from the list below.\n\n"</a:t>
            </a:r>
          </a:p>
          <a:p>
            <a:endParaRPr lang="en-US" sz="1050" dirty="0">
              <a:solidFill>
                <a:schemeClr val="tx1"/>
              </a:solidFill>
            </a:endParaRPr>
          </a:p>
          <a:p>
            <a:r>
              <a:rPr lang="en-US" sz="1050" dirty="0">
                <a:solidFill>
                  <a:schemeClr val="tx1"/>
                </a:solidFill>
              </a:rPr>
              <a:t>"Rules:\n"</a:t>
            </a:r>
          </a:p>
          <a:p>
            <a:r>
              <a:rPr lang="en-US" sz="1050" dirty="0">
                <a:solidFill>
                  <a:schemeClr val="tx1"/>
                </a:solidFill>
              </a:rPr>
              <a:t>"- Use the answer only as supporting context.\n"</a:t>
            </a:r>
          </a:p>
          <a:p>
            <a:r>
              <a:rPr lang="en-US" sz="1050" dirty="0">
                <a:solidFill>
                  <a:schemeClr val="tx1"/>
                </a:solidFill>
              </a:rPr>
              <a:t>"- Classify based mainly on the question.\n"</a:t>
            </a:r>
          </a:p>
          <a:p>
            <a:r>
              <a:rPr lang="en-US" sz="1050" dirty="0">
                <a:solidFill>
                  <a:schemeClr val="tx1"/>
                </a:solidFill>
              </a:rPr>
              <a:t>"- Choose exactly one category.\n"</a:t>
            </a:r>
          </a:p>
          <a:p>
            <a:r>
              <a:rPr lang="en-US" sz="1050" dirty="0">
                <a:solidFill>
                  <a:schemeClr val="tx1"/>
                </a:solidFill>
              </a:rPr>
              <a:t>"- Return only the category name.\n"</a:t>
            </a:r>
          </a:p>
          <a:p>
            <a:r>
              <a:rPr lang="en-US" sz="1050" dirty="0">
                <a:solidFill>
                  <a:schemeClr val="tx1"/>
                </a:solidFill>
              </a:rPr>
              <a:t>"- Do not explain your choice."</a:t>
            </a:r>
          </a:p>
        </p:txBody>
      </p:sp>
    </p:spTree>
    <p:extLst>
      <p:ext uri="{BB962C8B-B14F-4D97-AF65-F5344CB8AC3E}">
        <p14:creationId xmlns:p14="http://schemas.microsoft.com/office/powerpoint/2010/main" val="39452521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1CDFCF-E065-8D13-E462-661D129C3E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F19F75-1438-5BFF-E90F-65A51F887A0B}"/>
              </a:ext>
            </a:extLst>
          </p:cNvPr>
          <p:cNvSpPr>
            <a:spLocks noGrp="1"/>
          </p:cNvSpPr>
          <p:nvPr>
            <p:ph type="title"/>
          </p:nvPr>
        </p:nvSpPr>
        <p:spPr/>
        <p:txBody>
          <a:bodyPr/>
          <a:lstStyle/>
          <a:p>
            <a:r>
              <a:rPr lang="en-US" dirty="0"/>
              <a:t>April 10 2026</a:t>
            </a:r>
          </a:p>
        </p:txBody>
      </p:sp>
      <p:sp>
        <p:nvSpPr>
          <p:cNvPr id="3" name="Content Placeholder 2">
            <a:extLst>
              <a:ext uri="{FF2B5EF4-FFF2-40B4-BE49-F238E27FC236}">
                <a16:creationId xmlns:a16="http://schemas.microsoft.com/office/drawing/2014/main" id="{008896DE-6174-8C7A-0BF3-E56E25EB3933}"/>
              </a:ext>
            </a:extLst>
          </p:cNvPr>
          <p:cNvSpPr>
            <a:spLocks noGrp="1"/>
          </p:cNvSpPr>
          <p:nvPr>
            <p:ph idx="1"/>
          </p:nvPr>
        </p:nvSpPr>
        <p:spPr>
          <a:xfrm>
            <a:off x="838199" y="1825625"/>
            <a:ext cx="10308772" cy="4351338"/>
          </a:xfrm>
        </p:spPr>
        <p:txBody>
          <a:bodyPr numCol="1">
            <a:normAutofit/>
          </a:bodyPr>
          <a:lstStyle/>
          <a:p>
            <a:r>
              <a:rPr lang="en-US" sz="2400" dirty="0"/>
              <a:t>To do next:</a:t>
            </a:r>
          </a:p>
          <a:p>
            <a:pPr lvl="1"/>
            <a:r>
              <a:rPr lang="en-US" sz="2000" dirty="0"/>
              <a:t>For questions that are location dependent, I want to get answers for other locations</a:t>
            </a:r>
          </a:p>
          <a:p>
            <a:pPr lvl="1"/>
            <a:r>
              <a:rPr lang="en-US" sz="2000" dirty="0"/>
              <a:t>My goal is to show that while the same general information may be similar, specific details like phone numbers, who to contact – those are the parts that are different and this is where semantic similarity is not enough</a:t>
            </a:r>
          </a:p>
          <a:p>
            <a:pPr lvl="2"/>
            <a:r>
              <a:rPr lang="en-US" sz="1600" dirty="0">
                <a:solidFill>
                  <a:schemeClr val="tx2">
                    <a:lumMod val="75000"/>
                    <a:lumOff val="25000"/>
                  </a:schemeClr>
                </a:solidFill>
              </a:rPr>
              <a:t>Is </a:t>
            </a:r>
            <a:r>
              <a:rPr lang="en-US" sz="1600" dirty="0" err="1">
                <a:solidFill>
                  <a:schemeClr val="tx2">
                    <a:lumMod val="75000"/>
                    <a:lumOff val="25000"/>
                  </a:schemeClr>
                </a:solidFill>
              </a:rPr>
              <a:t>llm</a:t>
            </a:r>
            <a:r>
              <a:rPr lang="en-US" sz="1600" dirty="0">
                <a:solidFill>
                  <a:schemeClr val="tx2">
                    <a:lumMod val="75000"/>
                    <a:lumOff val="25000"/>
                  </a:schemeClr>
                </a:solidFill>
              </a:rPr>
              <a:t> as judge the way to go?- mention the types of question and evaluate like this- give instructions</a:t>
            </a:r>
          </a:p>
          <a:p>
            <a:pPr lvl="2"/>
            <a:r>
              <a:rPr lang="en-US" sz="1600" dirty="0">
                <a:solidFill>
                  <a:schemeClr val="tx2">
                    <a:lumMod val="75000"/>
                    <a:lumOff val="25000"/>
                  </a:schemeClr>
                </a:solidFill>
              </a:rPr>
              <a:t>Based on the change of the objective- if goal is show general formation</a:t>
            </a:r>
          </a:p>
          <a:p>
            <a:r>
              <a:rPr lang="en-US" sz="2400" dirty="0"/>
              <a:t>Graph based distance</a:t>
            </a:r>
          </a:p>
          <a:p>
            <a:pPr lvl="1"/>
            <a:r>
              <a:rPr lang="en-US" sz="2000" dirty="0"/>
              <a:t>Location query location each retrieved location and finding </a:t>
            </a:r>
          </a:p>
        </p:txBody>
      </p:sp>
    </p:spTree>
    <p:extLst>
      <p:ext uri="{BB962C8B-B14F-4D97-AF65-F5344CB8AC3E}">
        <p14:creationId xmlns:p14="http://schemas.microsoft.com/office/powerpoint/2010/main" val="31866483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2A9D85-39B7-E654-8DB7-A1B23AA2E229}"/>
              </a:ext>
            </a:extLst>
          </p:cNvPr>
          <p:cNvSpPr>
            <a:spLocks noGrp="1"/>
          </p:cNvSpPr>
          <p:nvPr>
            <p:ph type="title"/>
          </p:nvPr>
        </p:nvSpPr>
        <p:spPr>
          <a:xfrm>
            <a:off x="838200" y="192405"/>
            <a:ext cx="10515600" cy="1325563"/>
          </a:xfrm>
        </p:spPr>
        <p:txBody>
          <a:bodyPr/>
          <a:lstStyle/>
          <a:p>
            <a:r>
              <a:rPr lang="en-US" dirty="0"/>
              <a:t>Jurisdiction-sensitive retrieval in RAG Intro</a:t>
            </a:r>
          </a:p>
        </p:txBody>
      </p:sp>
      <p:sp>
        <p:nvSpPr>
          <p:cNvPr id="3" name="Content Placeholder 2">
            <a:extLst>
              <a:ext uri="{FF2B5EF4-FFF2-40B4-BE49-F238E27FC236}">
                <a16:creationId xmlns:a16="http://schemas.microsoft.com/office/drawing/2014/main" id="{EAD49E32-2FFD-2C15-DE1E-10C8AC5B5B99}"/>
              </a:ext>
            </a:extLst>
          </p:cNvPr>
          <p:cNvSpPr>
            <a:spLocks noGrp="1"/>
          </p:cNvSpPr>
          <p:nvPr>
            <p:ph idx="1"/>
          </p:nvPr>
        </p:nvSpPr>
        <p:spPr>
          <a:xfrm>
            <a:off x="838200" y="1402080"/>
            <a:ext cx="10515600" cy="5090795"/>
          </a:xfrm>
        </p:spPr>
        <p:txBody>
          <a:bodyPr>
            <a:normAutofit fontScale="92500" lnSpcReduction="10000"/>
          </a:bodyPr>
          <a:lstStyle/>
          <a:p>
            <a:pPr>
              <a:lnSpc>
                <a:spcPct val="120000"/>
              </a:lnSpc>
            </a:pPr>
            <a:r>
              <a:rPr lang="en-US" sz="2000" dirty="0"/>
              <a:t>jurisdiction sensitivity is a latent property of questions. Geographic mismatch matters disproportionately for location-sensitive questions.</a:t>
            </a:r>
          </a:p>
          <a:p>
            <a:pPr lvl="1">
              <a:lnSpc>
                <a:spcPct val="120000"/>
              </a:lnSpc>
            </a:pPr>
            <a:r>
              <a:rPr lang="en-US" sz="1600" dirty="0"/>
              <a:t>Someone dealing with a wildfire in Grand County needs </a:t>
            </a:r>
            <a:r>
              <a:rPr lang="en-US" sz="1600" i="1" dirty="0"/>
              <a:t>some</a:t>
            </a:r>
            <a:r>
              <a:rPr lang="en-US" sz="1600" dirty="0"/>
              <a:t> answer, not none. But they also need to know "this is city-level policy, your county may differ.”</a:t>
            </a:r>
          </a:p>
          <a:p>
            <a:pPr lvl="2">
              <a:lnSpc>
                <a:spcPct val="120000"/>
              </a:lnSpc>
            </a:pPr>
            <a:r>
              <a:rPr lang="en-US" sz="1400" dirty="0"/>
              <a:t>return the best available answer with a calibrated warning about how far the jurisdiction is from what was asked.</a:t>
            </a:r>
          </a:p>
          <a:p>
            <a:pPr>
              <a:lnSpc>
                <a:spcPct val="120000"/>
              </a:lnSpc>
            </a:pPr>
            <a:r>
              <a:rPr lang="en-US" sz="2000" dirty="0"/>
              <a:t>A query is jurisdiction-sensitive if the correctness or applicability of an answer depends on the governing geographic or administrative scope.</a:t>
            </a:r>
          </a:p>
          <a:p>
            <a:pPr lvl="1">
              <a:lnSpc>
                <a:spcPct val="120000"/>
              </a:lnSpc>
            </a:pPr>
            <a:r>
              <a:rPr lang="en-US" sz="1600" dirty="0"/>
              <a:t>semantic relevance and geographic proximity do not capture applicability. If open burning rules are lenient in Colorado, they may be illegal in Utah despite them being proximally close</a:t>
            </a:r>
          </a:p>
          <a:p>
            <a:pPr>
              <a:lnSpc>
                <a:spcPct val="120000"/>
              </a:lnSpc>
            </a:pPr>
            <a:r>
              <a:rPr lang="en-US" sz="2000" dirty="0"/>
              <a:t>UE: </a:t>
            </a:r>
            <a:r>
              <a:rPr lang="en-US" sz="2000" b="1" dirty="0"/>
              <a:t>the distance between what jurisdiction the question needs and what jurisdiction the answer comes from</a:t>
            </a:r>
            <a:r>
              <a:rPr lang="en-US" sz="2000" dirty="0"/>
              <a:t>. Small distance is  answer with low warning. Large distance is  answer with high warning. </a:t>
            </a:r>
          </a:p>
          <a:p>
            <a:pPr lvl="1"/>
            <a:r>
              <a:rPr lang="en-US" sz="1600" dirty="0"/>
              <a:t>low risk: exact jurisdiction match </a:t>
            </a:r>
          </a:p>
          <a:p>
            <a:pPr lvl="1"/>
            <a:r>
              <a:rPr lang="en-US" sz="1600" dirty="0"/>
              <a:t>moderate risk: nested or governing jurisdiction </a:t>
            </a:r>
          </a:p>
          <a:p>
            <a:pPr lvl="1"/>
            <a:r>
              <a:rPr lang="en-US" sz="1600" dirty="0"/>
              <a:t>high risk: sibling or unrelated jurisdiction </a:t>
            </a:r>
          </a:p>
          <a:p>
            <a:pPr lvl="1"/>
            <a:r>
              <a:rPr lang="en-US" sz="1600" dirty="0"/>
              <a:t>very high risk: no grounded geographic evidence</a:t>
            </a:r>
          </a:p>
        </p:txBody>
      </p:sp>
    </p:spTree>
    <p:extLst>
      <p:ext uri="{BB962C8B-B14F-4D97-AF65-F5344CB8AC3E}">
        <p14:creationId xmlns:p14="http://schemas.microsoft.com/office/powerpoint/2010/main" val="6674038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7EE5587A-A4F9-71C9-9E1F-0E32BDD542F7}"/>
              </a:ext>
            </a:extLst>
          </p:cNvPr>
          <p:cNvSpPr txBox="1"/>
          <p:nvPr/>
        </p:nvSpPr>
        <p:spPr>
          <a:xfrm>
            <a:off x="703811" y="681037"/>
            <a:ext cx="6893560" cy="707886"/>
          </a:xfrm>
          <a:prstGeom prst="rect">
            <a:avLst/>
          </a:prstGeom>
          <a:noFill/>
        </p:spPr>
        <p:txBody>
          <a:bodyPr wrap="square" rtlCol="0">
            <a:spAutoFit/>
          </a:bodyPr>
          <a:lstStyle/>
          <a:p>
            <a:r>
              <a:rPr lang="en-US" sz="4000" dirty="0"/>
              <a:t>Dataset Info</a:t>
            </a:r>
          </a:p>
        </p:txBody>
      </p:sp>
      <p:sp>
        <p:nvSpPr>
          <p:cNvPr id="2" name="Content Placeholder 1">
            <a:extLst>
              <a:ext uri="{FF2B5EF4-FFF2-40B4-BE49-F238E27FC236}">
                <a16:creationId xmlns:a16="http://schemas.microsoft.com/office/drawing/2014/main" id="{6E4032A4-F7CD-5590-618F-D54860770B13}"/>
              </a:ext>
            </a:extLst>
          </p:cNvPr>
          <p:cNvSpPr>
            <a:spLocks noGrp="1"/>
          </p:cNvSpPr>
          <p:nvPr>
            <p:ph idx="1"/>
          </p:nvPr>
        </p:nvSpPr>
        <p:spPr/>
        <p:txBody>
          <a:bodyPr/>
          <a:lstStyle/>
          <a:p>
            <a:r>
              <a:rPr lang="en-US" dirty="0"/>
              <a:t>General education / health / preparedness -select answer</a:t>
            </a:r>
          </a:p>
          <a:p>
            <a:r>
              <a:rPr lang="en-US" dirty="0"/>
              <a:t>Local policy / permit / restriction- select </a:t>
            </a:r>
            <a:r>
              <a:rPr lang="en-US" dirty="0" err="1"/>
              <a:t>answer_with_warning</a:t>
            </a:r>
            <a:endParaRPr lang="en-US" dirty="0"/>
          </a:p>
          <a:p>
            <a:r>
              <a:rPr lang="en-US" dirty="0"/>
              <a:t>Live incident status / evacuation / current closures- select abstain</a:t>
            </a:r>
          </a:p>
          <a:p>
            <a:endParaRPr lang="en-US" dirty="0"/>
          </a:p>
          <a:p>
            <a:endParaRPr lang="en-US" dirty="0"/>
          </a:p>
        </p:txBody>
      </p:sp>
      <p:graphicFrame>
        <p:nvGraphicFramePr>
          <p:cNvPr id="5" name="Table 4">
            <a:extLst>
              <a:ext uri="{FF2B5EF4-FFF2-40B4-BE49-F238E27FC236}">
                <a16:creationId xmlns:a16="http://schemas.microsoft.com/office/drawing/2014/main" id="{E73058C2-8F28-E5BE-3506-97CB8E338D3C}"/>
              </a:ext>
            </a:extLst>
          </p:cNvPr>
          <p:cNvGraphicFramePr>
            <a:graphicFrameLocks noGrp="1"/>
          </p:cNvGraphicFramePr>
          <p:nvPr>
            <p:extLst>
              <p:ext uri="{D42A27DB-BD31-4B8C-83A1-F6EECF244321}">
                <p14:modId xmlns:p14="http://schemas.microsoft.com/office/powerpoint/2010/main" val="1888426958"/>
              </p:ext>
            </p:extLst>
          </p:nvPr>
        </p:nvGraphicFramePr>
        <p:xfrm>
          <a:off x="838199" y="3740729"/>
          <a:ext cx="10515602" cy="515118"/>
        </p:xfrm>
        <a:graphic>
          <a:graphicData uri="http://schemas.openxmlformats.org/drawingml/2006/table">
            <a:tbl>
              <a:tblPr/>
              <a:tblGrid>
                <a:gridCol w="865499">
                  <a:extLst>
                    <a:ext uri="{9D8B030D-6E8A-4147-A177-3AD203B41FA5}">
                      <a16:colId xmlns:a16="http://schemas.microsoft.com/office/drawing/2014/main" val="2242522337"/>
                    </a:ext>
                  </a:extLst>
                </a:gridCol>
                <a:gridCol w="945984">
                  <a:extLst>
                    <a:ext uri="{9D8B030D-6E8A-4147-A177-3AD203B41FA5}">
                      <a16:colId xmlns:a16="http://schemas.microsoft.com/office/drawing/2014/main" val="2360199738"/>
                    </a:ext>
                  </a:extLst>
                </a:gridCol>
                <a:gridCol w="862445">
                  <a:extLst>
                    <a:ext uri="{9D8B030D-6E8A-4147-A177-3AD203B41FA5}">
                      <a16:colId xmlns:a16="http://schemas.microsoft.com/office/drawing/2014/main" val="1983058662"/>
                    </a:ext>
                  </a:extLst>
                </a:gridCol>
                <a:gridCol w="446809">
                  <a:extLst>
                    <a:ext uri="{9D8B030D-6E8A-4147-A177-3AD203B41FA5}">
                      <a16:colId xmlns:a16="http://schemas.microsoft.com/office/drawing/2014/main" val="3858434040"/>
                    </a:ext>
                  </a:extLst>
                </a:gridCol>
                <a:gridCol w="561109">
                  <a:extLst>
                    <a:ext uri="{9D8B030D-6E8A-4147-A177-3AD203B41FA5}">
                      <a16:colId xmlns:a16="http://schemas.microsoft.com/office/drawing/2014/main" val="2902879851"/>
                    </a:ext>
                  </a:extLst>
                </a:gridCol>
                <a:gridCol w="976746">
                  <a:extLst>
                    <a:ext uri="{9D8B030D-6E8A-4147-A177-3AD203B41FA5}">
                      <a16:colId xmlns:a16="http://schemas.microsoft.com/office/drawing/2014/main" val="4128759156"/>
                    </a:ext>
                  </a:extLst>
                </a:gridCol>
                <a:gridCol w="1111827">
                  <a:extLst>
                    <a:ext uri="{9D8B030D-6E8A-4147-A177-3AD203B41FA5}">
                      <a16:colId xmlns:a16="http://schemas.microsoft.com/office/drawing/2014/main" val="3661501824"/>
                    </a:ext>
                  </a:extLst>
                </a:gridCol>
                <a:gridCol w="1984664">
                  <a:extLst>
                    <a:ext uri="{9D8B030D-6E8A-4147-A177-3AD203B41FA5}">
                      <a16:colId xmlns:a16="http://schemas.microsoft.com/office/drawing/2014/main" val="584128385"/>
                    </a:ext>
                  </a:extLst>
                </a:gridCol>
                <a:gridCol w="1361209">
                  <a:extLst>
                    <a:ext uri="{9D8B030D-6E8A-4147-A177-3AD203B41FA5}">
                      <a16:colId xmlns:a16="http://schemas.microsoft.com/office/drawing/2014/main" val="2733342823"/>
                    </a:ext>
                  </a:extLst>
                </a:gridCol>
                <a:gridCol w="1399310">
                  <a:extLst>
                    <a:ext uri="{9D8B030D-6E8A-4147-A177-3AD203B41FA5}">
                      <a16:colId xmlns:a16="http://schemas.microsoft.com/office/drawing/2014/main" val="26062804"/>
                    </a:ext>
                  </a:extLst>
                </a:gridCol>
              </a:tblGrid>
              <a:tr h="515118">
                <a:tc>
                  <a:txBody>
                    <a:bodyPr/>
                    <a:lstStyle/>
                    <a:p>
                      <a:pPr>
                        <a:buNone/>
                      </a:pPr>
                      <a:r>
                        <a:rPr lang="en-US" sz="1200">
                          <a:solidFill>
                            <a:srgbClr val="000000"/>
                          </a:solidFill>
                          <a:effectLst/>
                          <a:latin typeface="Helvetica Neue" panose="02000503000000020004" pitchFamily="2" charset="0"/>
                        </a:rPr>
                        <a:t>Source</a:t>
                      </a:r>
                      <a:endParaRPr lang="en-US" sz="1200">
                        <a:effectLst/>
                      </a:endParaRPr>
                    </a:p>
                  </a:txBody>
                  <a:tcPr marL="16725" marR="16725" marT="16725" marB="1672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en-US" sz="1200" dirty="0">
                          <a:solidFill>
                            <a:srgbClr val="000000"/>
                          </a:solidFill>
                          <a:effectLst/>
                          <a:latin typeface="Helvetica Neue" panose="02000503000000020004" pitchFamily="2" charset="0"/>
                        </a:rPr>
                        <a:t>Question</a:t>
                      </a:r>
                      <a:endParaRPr lang="en-US" sz="1200" dirty="0">
                        <a:effectLst/>
                      </a:endParaRPr>
                    </a:p>
                  </a:txBody>
                  <a:tcPr marL="16725" marR="16725" marT="16725" marB="1672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en-US" sz="1200">
                          <a:solidFill>
                            <a:srgbClr val="000000"/>
                          </a:solidFill>
                          <a:effectLst/>
                          <a:latin typeface="Helvetica Neue" panose="02000503000000020004" pitchFamily="2" charset="0"/>
                        </a:rPr>
                        <a:t>Answer</a:t>
                      </a:r>
                      <a:endParaRPr lang="en-US" sz="1200">
                        <a:effectLst/>
                      </a:endParaRPr>
                    </a:p>
                  </a:txBody>
                  <a:tcPr marL="16725" marR="16725" marT="16725" marB="1672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en-US" sz="1200" dirty="0">
                          <a:solidFill>
                            <a:srgbClr val="000000"/>
                          </a:solidFill>
                          <a:effectLst/>
                          <a:latin typeface="Helvetica Neue" panose="02000503000000020004" pitchFamily="2" charset="0"/>
                        </a:rPr>
                        <a:t>City</a:t>
                      </a:r>
                      <a:endParaRPr lang="en-US" sz="1200" dirty="0">
                        <a:effectLst/>
                      </a:endParaRPr>
                    </a:p>
                  </a:txBody>
                  <a:tcPr marL="16725" marR="16725" marT="16725" marB="1672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en-US" sz="1200">
                          <a:solidFill>
                            <a:srgbClr val="000000"/>
                          </a:solidFill>
                          <a:effectLst/>
                          <a:latin typeface="Helvetica Neue" panose="02000503000000020004" pitchFamily="2" charset="0"/>
                        </a:rPr>
                        <a:t>State</a:t>
                      </a:r>
                      <a:endParaRPr lang="en-US" sz="1200">
                        <a:effectLst/>
                      </a:endParaRPr>
                    </a:p>
                  </a:txBody>
                  <a:tcPr marL="16725" marR="16725" marT="16725" marB="1672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en-US" sz="1200">
                          <a:solidFill>
                            <a:srgbClr val="000000"/>
                          </a:solidFill>
                          <a:effectLst/>
                          <a:latin typeface="Helvetica Neue" panose="02000503000000020004" pitchFamily="2" charset="0"/>
                        </a:rPr>
                        <a:t>jurisdiction_type</a:t>
                      </a:r>
                      <a:endParaRPr lang="en-US" sz="1200">
                        <a:effectLst/>
                      </a:endParaRPr>
                    </a:p>
                  </a:txBody>
                  <a:tcPr marL="16725" marR="16725" marT="16725" marB="1672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en-US" sz="1200" dirty="0" err="1">
                          <a:solidFill>
                            <a:srgbClr val="000000"/>
                          </a:solidFill>
                          <a:effectLst/>
                          <a:latin typeface="Helvetica Neue" panose="02000503000000020004" pitchFamily="2" charset="0"/>
                        </a:rPr>
                        <a:t>intended_jurisdiction</a:t>
                      </a:r>
                      <a:endParaRPr lang="en-US" sz="1200" dirty="0">
                        <a:effectLst/>
                      </a:endParaRPr>
                    </a:p>
                  </a:txBody>
                  <a:tcPr marL="16725" marR="16725" marT="16725" marB="1672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en-US" sz="1200" dirty="0" err="1">
                          <a:solidFill>
                            <a:srgbClr val="000000"/>
                          </a:solidFill>
                          <a:effectLst/>
                          <a:latin typeface="Helvetica Neue" panose="02000503000000020004" pitchFamily="2" charset="0"/>
                        </a:rPr>
                        <a:t>expected_behavior_if_no_exact_match</a:t>
                      </a:r>
                      <a:endParaRPr lang="en-US" sz="1200" dirty="0">
                        <a:effectLst/>
                      </a:endParaRPr>
                    </a:p>
                  </a:txBody>
                  <a:tcPr marL="16725" marR="16725" marT="16725" marB="1672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en-US" sz="1200">
                          <a:solidFill>
                            <a:srgbClr val="000000"/>
                          </a:solidFill>
                          <a:effectLst/>
                          <a:latin typeface="Helvetica Neue" panose="02000503000000020004" pitchFamily="2" charset="0"/>
                        </a:rPr>
                        <a:t>Question_Type</a:t>
                      </a:r>
                      <a:endParaRPr lang="en-US" sz="1200">
                        <a:effectLst/>
                      </a:endParaRPr>
                    </a:p>
                  </a:txBody>
                  <a:tcPr marL="16725" marR="16725" marT="16725" marB="1672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en-US" sz="1200" dirty="0">
                          <a:solidFill>
                            <a:srgbClr val="000000"/>
                          </a:solidFill>
                          <a:effectLst/>
                          <a:latin typeface="Helvetica Neue" panose="02000503000000020004" pitchFamily="2" charset="0"/>
                        </a:rPr>
                        <a:t>Location Dependent</a:t>
                      </a:r>
                      <a:endParaRPr lang="en-US" sz="1200" dirty="0">
                        <a:effectLst/>
                      </a:endParaRPr>
                    </a:p>
                  </a:txBody>
                  <a:tcPr marL="16725" marR="16725" marT="16725" marB="1672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16423857"/>
                  </a:ext>
                </a:extLst>
              </a:tr>
            </a:tbl>
          </a:graphicData>
        </a:graphic>
      </p:graphicFrame>
      <p:sp>
        <p:nvSpPr>
          <p:cNvPr id="9" name="TextBox 8">
            <a:extLst>
              <a:ext uri="{FF2B5EF4-FFF2-40B4-BE49-F238E27FC236}">
                <a16:creationId xmlns:a16="http://schemas.microsoft.com/office/drawing/2014/main" id="{EEBAFD59-D337-5E1A-C8FF-D9D9E95F224E}"/>
              </a:ext>
            </a:extLst>
          </p:cNvPr>
          <p:cNvSpPr txBox="1"/>
          <p:nvPr/>
        </p:nvSpPr>
        <p:spPr>
          <a:xfrm>
            <a:off x="4348480" y="762615"/>
            <a:ext cx="6096000" cy="923330"/>
          </a:xfrm>
          <a:prstGeom prst="rect">
            <a:avLst/>
          </a:prstGeom>
          <a:noFill/>
        </p:spPr>
        <p:txBody>
          <a:bodyPr wrap="square">
            <a:spAutoFit/>
          </a:bodyPr>
          <a:lstStyle/>
          <a:p>
            <a:r>
              <a:rPr lang="en-US" sz="1800" dirty="0"/>
              <a:t>when risk is high, do warning, fallback, or abstention policies reduce harmful answers compared with a normal RAG baseline</a:t>
            </a:r>
          </a:p>
        </p:txBody>
      </p:sp>
    </p:spTree>
    <p:extLst>
      <p:ext uri="{BB962C8B-B14F-4D97-AF65-F5344CB8AC3E}">
        <p14:creationId xmlns:p14="http://schemas.microsoft.com/office/powerpoint/2010/main" val="12203461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35B26E-EBDE-4462-4B8C-10C262ACEFC8}"/>
              </a:ext>
            </a:extLst>
          </p:cNvPr>
          <p:cNvSpPr>
            <a:spLocks noGrp="1"/>
          </p:cNvSpPr>
          <p:nvPr>
            <p:ph type="title"/>
          </p:nvPr>
        </p:nvSpPr>
        <p:spPr>
          <a:xfrm>
            <a:off x="594360" y="143390"/>
            <a:ext cx="10515600" cy="1325563"/>
          </a:xfrm>
        </p:spPr>
        <p:txBody>
          <a:bodyPr>
            <a:noAutofit/>
          </a:bodyPr>
          <a:lstStyle/>
          <a:p>
            <a:r>
              <a:rPr lang="en-US" sz="3200" dirty="0"/>
              <a:t>How to prove the risk metric adds value beyond exact-match filtering- it ranks mismatch and supports better decisions under imperfect retrieval.</a:t>
            </a:r>
          </a:p>
        </p:txBody>
      </p:sp>
      <p:graphicFrame>
        <p:nvGraphicFramePr>
          <p:cNvPr id="4" name="Content Placeholder 3">
            <a:extLst>
              <a:ext uri="{FF2B5EF4-FFF2-40B4-BE49-F238E27FC236}">
                <a16:creationId xmlns:a16="http://schemas.microsoft.com/office/drawing/2014/main" id="{BA17929A-A4AA-C754-3A20-DEE39EB1F2F6}"/>
              </a:ext>
            </a:extLst>
          </p:cNvPr>
          <p:cNvGraphicFramePr>
            <a:graphicFrameLocks noGrp="1"/>
          </p:cNvGraphicFramePr>
          <p:nvPr>
            <p:ph idx="1"/>
            <p:extLst>
              <p:ext uri="{D42A27DB-BD31-4B8C-83A1-F6EECF244321}">
                <p14:modId xmlns:p14="http://schemas.microsoft.com/office/powerpoint/2010/main" val="2494088896"/>
              </p:ext>
            </p:extLst>
          </p:nvPr>
        </p:nvGraphicFramePr>
        <p:xfrm>
          <a:off x="635304" y="4779876"/>
          <a:ext cx="6304280" cy="1828800"/>
        </p:xfrm>
        <a:graphic>
          <a:graphicData uri="http://schemas.openxmlformats.org/drawingml/2006/table">
            <a:tbl>
              <a:tblPr>
                <a:tableStyleId>{5940675A-B579-460E-94D1-54222C63F5DA}</a:tableStyleId>
              </a:tblPr>
              <a:tblGrid>
                <a:gridCol w="2077720">
                  <a:extLst>
                    <a:ext uri="{9D8B030D-6E8A-4147-A177-3AD203B41FA5}">
                      <a16:colId xmlns:a16="http://schemas.microsoft.com/office/drawing/2014/main" val="3968648602"/>
                    </a:ext>
                  </a:extLst>
                </a:gridCol>
                <a:gridCol w="4226560">
                  <a:extLst>
                    <a:ext uri="{9D8B030D-6E8A-4147-A177-3AD203B41FA5}">
                      <a16:colId xmlns:a16="http://schemas.microsoft.com/office/drawing/2014/main" val="4048553211"/>
                    </a:ext>
                  </a:extLst>
                </a:gridCol>
              </a:tblGrid>
              <a:tr h="0">
                <a:tc>
                  <a:txBody>
                    <a:bodyPr/>
                    <a:lstStyle/>
                    <a:p>
                      <a:pPr>
                        <a:buNone/>
                      </a:pPr>
                      <a:r>
                        <a:rPr lang="en-US" sz="1400" dirty="0"/>
                        <a:t>Method</a:t>
                      </a:r>
                    </a:p>
                  </a:txBody>
                  <a:tcPr anchor="ctr"/>
                </a:tc>
                <a:tc>
                  <a:txBody>
                    <a:bodyPr/>
                    <a:lstStyle/>
                    <a:p>
                      <a:pPr>
                        <a:buNone/>
                      </a:pPr>
                      <a:r>
                        <a:rPr lang="en-US" sz="1400" dirty="0"/>
                        <a:t>Purpose</a:t>
                      </a:r>
                    </a:p>
                  </a:txBody>
                  <a:tcPr anchor="ctr"/>
                </a:tc>
                <a:extLst>
                  <a:ext uri="{0D108BD9-81ED-4DB2-BD59-A6C34878D82A}">
                    <a16:rowId xmlns:a16="http://schemas.microsoft.com/office/drawing/2014/main" val="3146555399"/>
                  </a:ext>
                </a:extLst>
              </a:tr>
              <a:tr h="0">
                <a:tc>
                  <a:txBody>
                    <a:bodyPr/>
                    <a:lstStyle/>
                    <a:p>
                      <a:pPr>
                        <a:buNone/>
                      </a:pPr>
                      <a:r>
                        <a:rPr lang="en-US" sz="1400" dirty="0"/>
                        <a:t>Similarity-only</a:t>
                      </a:r>
                    </a:p>
                  </a:txBody>
                  <a:tcPr anchor="ctr">
                    <a:solidFill>
                      <a:schemeClr val="bg1">
                        <a:lumMod val="85000"/>
                      </a:schemeClr>
                    </a:solidFill>
                  </a:tcPr>
                </a:tc>
                <a:tc>
                  <a:txBody>
                    <a:bodyPr/>
                    <a:lstStyle/>
                    <a:p>
                      <a:pPr>
                        <a:buNone/>
                      </a:pPr>
                      <a:r>
                        <a:rPr lang="en-US" sz="1400" dirty="0"/>
                        <a:t>Just semantic similarity</a:t>
                      </a:r>
                    </a:p>
                  </a:txBody>
                  <a:tcPr anchor="ctr">
                    <a:solidFill>
                      <a:schemeClr val="bg1">
                        <a:lumMod val="85000"/>
                      </a:schemeClr>
                    </a:solidFill>
                  </a:tcPr>
                </a:tc>
                <a:extLst>
                  <a:ext uri="{0D108BD9-81ED-4DB2-BD59-A6C34878D82A}">
                    <a16:rowId xmlns:a16="http://schemas.microsoft.com/office/drawing/2014/main" val="3056279313"/>
                  </a:ext>
                </a:extLst>
              </a:tr>
              <a:tr h="0">
                <a:tc>
                  <a:txBody>
                    <a:bodyPr/>
                    <a:lstStyle/>
                    <a:p>
                      <a:pPr>
                        <a:buNone/>
                      </a:pPr>
                      <a:r>
                        <a:rPr lang="en-US" sz="1400" dirty="0"/>
                        <a:t>Exact filter</a:t>
                      </a:r>
                    </a:p>
                  </a:txBody>
                  <a:tcPr anchor="ctr">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Uses location keyword match only</a:t>
                      </a:r>
                    </a:p>
                  </a:txBody>
                  <a:tcPr anchor="ctr">
                    <a:solidFill>
                      <a:schemeClr val="bg1">
                        <a:lumMod val="85000"/>
                      </a:schemeClr>
                    </a:solidFill>
                  </a:tcPr>
                </a:tc>
                <a:extLst>
                  <a:ext uri="{0D108BD9-81ED-4DB2-BD59-A6C34878D82A}">
                    <a16:rowId xmlns:a16="http://schemas.microsoft.com/office/drawing/2014/main" val="2967422800"/>
                  </a:ext>
                </a:extLst>
              </a:tr>
              <a:tr h="0">
                <a:tc>
                  <a:txBody>
                    <a:bodyPr/>
                    <a:lstStyle/>
                    <a:p>
                      <a:pPr>
                        <a:buNone/>
                      </a:pPr>
                      <a:r>
                        <a:rPr lang="en-US" sz="1400" dirty="0"/>
                        <a:t>Graph-only</a:t>
                      </a:r>
                    </a:p>
                  </a:txBody>
                  <a:tcPr anchor="ctr">
                    <a:solidFill>
                      <a:schemeClr val="bg1">
                        <a:lumMod val="85000"/>
                      </a:schemeClr>
                    </a:solidFill>
                  </a:tcPr>
                </a:tc>
                <a:tc>
                  <a:txBody>
                    <a:bodyPr/>
                    <a:lstStyle/>
                    <a:p>
                      <a:pPr>
                        <a:buNone/>
                      </a:pPr>
                      <a:r>
                        <a:rPr lang="en-US" sz="1400" dirty="0"/>
                        <a:t>Graph distance</a:t>
                      </a:r>
                    </a:p>
                  </a:txBody>
                  <a:tcPr anchor="ctr">
                    <a:solidFill>
                      <a:schemeClr val="bg1">
                        <a:lumMod val="85000"/>
                      </a:schemeClr>
                    </a:solidFill>
                  </a:tcPr>
                </a:tc>
                <a:extLst>
                  <a:ext uri="{0D108BD9-81ED-4DB2-BD59-A6C34878D82A}">
                    <a16:rowId xmlns:a16="http://schemas.microsoft.com/office/drawing/2014/main" val="1303706197"/>
                  </a:ext>
                </a:extLst>
              </a:tr>
              <a:tr h="0">
                <a:tc>
                  <a:txBody>
                    <a:bodyPr/>
                    <a:lstStyle/>
                    <a:p>
                      <a:pPr>
                        <a:buNone/>
                      </a:pPr>
                      <a:r>
                        <a:rPr lang="en-US" sz="1400" dirty="0"/>
                        <a:t>Granularity-only</a:t>
                      </a:r>
                    </a:p>
                  </a:txBody>
                  <a:tcPr anchor="ctr">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Keeps only exact jurisdiction level docs</a:t>
                      </a:r>
                    </a:p>
                  </a:txBody>
                  <a:tcPr anchor="ctr">
                    <a:solidFill>
                      <a:schemeClr val="bg1">
                        <a:lumMod val="85000"/>
                      </a:schemeClr>
                    </a:solidFill>
                  </a:tcPr>
                </a:tc>
                <a:extLst>
                  <a:ext uri="{0D108BD9-81ED-4DB2-BD59-A6C34878D82A}">
                    <a16:rowId xmlns:a16="http://schemas.microsoft.com/office/drawing/2014/main" val="1097171451"/>
                  </a:ext>
                </a:extLst>
              </a:tr>
              <a:tr h="0">
                <a:tc>
                  <a:txBody>
                    <a:bodyPr/>
                    <a:lstStyle/>
                    <a:p>
                      <a:pPr>
                        <a:buNone/>
                      </a:pPr>
                      <a:r>
                        <a:rPr lang="en-US" sz="1400"/>
                        <a:t>Full method</a:t>
                      </a:r>
                    </a:p>
                  </a:txBody>
                  <a:tcPr anchor="ctr"/>
                </a:tc>
                <a:tc>
                  <a:txBody>
                    <a:bodyPr/>
                    <a:lstStyle/>
                    <a:p>
                      <a:pPr>
                        <a:buNone/>
                      </a:pPr>
                      <a:r>
                        <a:rPr lang="en-US" sz="1400" dirty="0"/>
                        <a:t>Uses graph distance + granularity + similarity</a:t>
                      </a:r>
                    </a:p>
                  </a:txBody>
                  <a:tcPr anchor="ctr"/>
                </a:tc>
                <a:extLst>
                  <a:ext uri="{0D108BD9-81ED-4DB2-BD59-A6C34878D82A}">
                    <a16:rowId xmlns:a16="http://schemas.microsoft.com/office/drawing/2014/main" val="518562340"/>
                  </a:ext>
                </a:extLst>
              </a:tr>
            </a:tbl>
          </a:graphicData>
        </a:graphic>
      </p:graphicFrame>
      <p:sp>
        <p:nvSpPr>
          <p:cNvPr id="10" name="Rectangle 1">
            <a:extLst>
              <a:ext uri="{FF2B5EF4-FFF2-40B4-BE49-F238E27FC236}">
                <a16:creationId xmlns:a16="http://schemas.microsoft.com/office/drawing/2014/main" id="{A60E06DE-427C-EE06-1418-30692A9CCD55}"/>
              </a:ext>
            </a:extLst>
          </p:cNvPr>
          <p:cNvSpPr>
            <a:spLocks noChangeArrowheads="1"/>
          </p:cNvSpPr>
          <p:nvPr/>
        </p:nvSpPr>
        <p:spPr bwMode="auto">
          <a:xfrm>
            <a:off x="7395873" y="1363556"/>
            <a:ext cx="4348480"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i="0" u="none" strike="noStrike" cap="none" normalizeH="0" baseline="0" dirty="0">
                <a:ln>
                  <a:noFill/>
                </a:ln>
                <a:solidFill>
                  <a:schemeClr val="tx1"/>
                </a:solidFill>
                <a:effectLst/>
                <a:latin typeface="Arial" panose="020B0604020202020204" pitchFamily="34" charset="0"/>
              </a:rPr>
              <a:t>Plan: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i="0" u="none" strike="noStrike" cap="none" normalizeH="0" baseline="0" dirty="0">
                <a:ln>
                  <a:noFill/>
                </a:ln>
                <a:solidFill>
                  <a:schemeClr val="tx1"/>
                </a:solidFill>
                <a:effectLst/>
                <a:latin typeface="Arial" panose="020B0604020202020204" pitchFamily="34" charset="0"/>
              </a:rPr>
              <a:t>retrieve top-k with each method </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i="0" u="none" strike="noStrike" cap="none" normalizeH="0" baseline="0" dirty="0">
                <a:ln>
                  <a:noFill/>
                </a:ln>
                <a:solidFill>
                  <a:schemeClr val="tx1"/>
                </a:solidFill>
                <a:effectLst/>
                <a:latin typeface="Arial" panose="020B0604020202020204" pitchFamily="34" charset="0"/>
              </a:rPr>
              <a:t>for every retrieved passage, get </a:t>
            </a:r>
            <a:r>
              <a:rPr kumimoji="0" lang="en-US" altLang="en-US" sz="1800" i="0" u="none" strike="noStrike" cap="none" normalizeH="0" baseline="0" dirty="0" err="1">
                <a:ln>
                  <a:noFill/>
                </a:ln>
                <a:solidFill>
                  <a:schemeClr val="tx1"/>
                </a:solidFill>
                <a:effectLst/>
                <a:latin typeface="Arial" panose="020B0604020202020204" pitchFamily="34" charset="0"/>
              </a:rPr>
              <a:t>sem</a:t>
            </a:r>
            <a:r>
              <a:rPr kumimoji="0" lang="en-US" altLang="en-US" sz="1800" i="0" u="none" strike="noStrike" cap="none" normalizeH="0" baseline="0" dirty="0">
                <a:ln>
                  <a:noFill/>
                </a:ln>
                <a:solidFill>
                  <a:schemeClr val="tx1"/>
                </a:solidFill>
                <a:effectLst/>
                <a:latin typeface="Arial" panose="020B0604020202020204" pitchFamily="34" charset="0"/>
              </a:rPr>
              <a:t> sim score, jurisdiction, and the graph distance</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i="0" u="none" strike="noStrike" cap="none" normalizeH="0" baseline="0" dirty="0">
                <a:ln>
                  <a:noFill/>
                </a:ln>
                <a:solidFill>
                  <a:schemeClr val="tx1"/>
                </a:solidFill>
                <a:effectLst/>
                <a:latin typeface="Arial" panose="020B0604020202020204" pitchFamily="34" charset="0"/>
              </a:rPr>
              <a:t>compare methods on whether they rank better evidence higher </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i="0" u="none" strike="noStrike" cap="none" normalizeH="0" baseline="0" dirty="0">
                <a:ln>
                  <a:noFill/>
                </a:ln>
                <a:solidFill>
                  <a:schemeClr val="tx1"/>
                </a:solidFill>
                <a:effectLst/>
                <a:latin typeface="Arial" panose="020B0604020202020204" pitchFamily="34" charset="0"/>
              </a:rPr>
              <a:t>then generate answers </a:t>
            </a:r>
          </a:p>
          <a:p>
            <a:pPr marL="342900" lvl="0" indent="-342900" eaLnBrk="0" fontAlgn="base" hangingPunct="0">
              <a:spcBef>
                <a:spcPct val="0"/>
              </a:spcBef>
              <a:spcAft>
                <a:spcPct val="0"/>
              </a:spcAft>
              <a:buFont typeface="+mj-lt"/>
              <a:buAutoNum type="arabicPeriod"/>
            </a:pPr>
            <a:r>
              <a:rPr lang="en-US" dirty="0"/>
              <a:t>Evaluate answer / warning / abstain behavior, with LLM judge and some </a:t>
            </a:r>
            <a:r>
              <a:rPr lang="en-US"/>
              <a:t>human checks.</a:t>
            </a:r>
            <a:endParaRPr kumimoji="0" lang="en-US" altLang="en-US" sz="1800" i="0" u="none" strike="noStrike" cap="none" normalizeH="0" baseline="0" dirty="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59F6B7BF-2101-0B08-4FA4-608197B32A58}"/>
              </a:ext>
            </a:extLst>
          </p:cNvPr>
          <p:cNvSpPr txBox="1"/>
          <p:nvPr/>
        </p:nvSpPr>
        <p:spPr>
          <a:xfrm>
            <a:off x="726440" y="1527178"/>
            <a:ext cx="6096000" cy="3046988"/>
          </a:xfrm>
          <a:prstGeom prst="rect">
            <a:avLst/>
          </a:prstGeom>
          <a:noFill/>
        </p:spPr>
        <p:txBody>
          <a:bodyPr wrap="square">
            <a:spAutoFit/>
          </a:bodyPr>
          <a:lstStyle/>
          <a:p>
            <a:pPr marL="0" lvl="0" indent="0" eaLnBrk="0" fontAlgn="base" hangingPunct="0">
              <a:lnSpc>
                <a:spcPct val="100000"/>
              </a:lnSpc>
              <a:spcBef>
                <a:spcPct val="0"/>
              </a:spcBef>
              <a:spcAft>
                <a:spcPct val="0"/>
              </a:spcAft>
              <a:buFontTx/>
              <a:buChar char="•"/>
            </a:pPr>
            <a:r>
              <a:rPr kumimoji="0" lang="en-US" altLang="en-US" sz="1200" i="0" u="none" strike="noStrike" cap="none" normalizeH="0" baseline="0" dirty="0">
                <a:ln>
                  <a:noFill/>
                </a:ln>
                <a:solidFill>
                  <a:schemeClr val="tx1"/>
                </a:solidFill>
                <a:effectLst/>
                <a:latin typeface="Arial" panose="020B0604020202020204" pitchFamily="34" charset="0"/>
              </a:rPr>
              <a:t>Model Baselines: </a:t>
            </a:r>
            <a:r>
              <a:rPr kumimoji="0" lang="en-US" altLang="en-US" sz="1200" i="0" u="none" strike="noStrike" cap="none" normalizeH="0" baseline="0" dirty="0" err="1">
                <a:ln>
                  <a:noFill/>
                </a:ln>
                <a:solidFill>
                  <a:schemeClr val="tx1"/>
                </a:solidFill>
                <a:effectLst/>
                <a:latin typeface="Arial" panose="020B0604020202020204" pitchFamily="34" charset="0"/>
              </a:rPr>
              <a:t>bge</a:t>
            </a:r>
            <a:r>
              <a:rPr kumimoji="0" lang="en-US" altLang="en-US" sz="1200" i="0" u="none" strike="noStrike" cap="none" normalizeH="0" baseline="0" dirty="0">
                <a:ln>
                  <a:noFill/>
                </a:ln>
                <a:solidFill>
                  <a:schemeClr val="tx1"/>
                </a:solidFill>
                <a:effectLst/>
                <a:latin typeface="Arial" panose="020B0604020202020204" pitchFamily="34" charset="0"/>
              </a:rPr>
              <a:t> small </a:t>
            </a:r>
            <a:r>
              <a:rPr kumimoji="0" lang="en-US" altLang="en-US" sz="1200" i="0" u="none" strike="noStrike" cap="none" normalizeH="0" baseline="0" dirty="0" err="1">
                <a:ln>
                  <a:noFill/>
                </a:ln>
                <a:solidFill>
                  <a:schemeClr val="tx1"/>
                </a:solidFill>
                <a:effectLst/>
                <a:latin typeface="Arial" panose="020B0604020202020204" pitchFamily="34" charset="0"/>
              </a:rPr>
              <a:t>en+gemma</a:t>
            </a:r>
            <a:r>
              <a:rPr kumimoji="0" lang="en-US" altLang="en-US" sz="1200" i="0" u="none" strike="noStrike" cap="none" normalizeH="0" baseline="0" dirty="0">
                <a:ln>
                  <a:noFill/>
                </a:ln>
                <a:solidFill>
                  <a:schemeClr val="tx1"/>
                </a:solidFill>
                <a:effectLst/>
                <a:latin typeface="Arial" panose="020B0604020202020204" pitchFamily="34" charset="0"/>
              </a:rPr>
              <a:t>, </a:t>
            </a:r>
            <a:r>
              <a:rPr kumimoji="0" lang="en-US" altLang="en-US" sz="1200" i="0" u="none" strike="noStrike" cap="none" normalizeH="0" baseline="0" dirty="0" err="1">
                <a:ln>
                  <a:noFill/>
                </a:ln>
                <a:solidFill>
                  <a:schemeClr val="tx1"/>
                </a:solidFill>
                <a:effectLst/>
                <a:latin typeface="Arial" panose="020B0604020202020204" pitchFamily="34" charset="0"/>
              </a:rPr>
              <a:t>bge</a:t>
            </a:r>
            <a:r>
              <a:rPr kumimoji="0" lang="en-US" altLang="en-US" sz="1200" i="0" u="none" strike="noStrike" cap="none" normalizeH="0" baseline="0" dirty="0">
                <a:ln>
                  <a:noFill/>
                </a:ln>
                <a:solidFill>
                  <a:schemeClr val="tx1"/>
                </a:solidFill>
                <a:effectLst/>
                <a:latin typeface="Arial" panose="020B0604020202020204" pitchFamily="34" charset="0"/>
              </a:rPr>
              <a:t> small </a:t>
            </a:r>
            <a:r>
              <a:rPr kumimoji="0" lang="en-US" altLang="en-US" sz="1200" i="0" u="none" strike="noStrike" cap="none" normalizeH="0" baseline="0" dirty="0" err="1">
                <a:ln>
                  <a:noFill/>
                </a:ln>
                <a:solidFill>
                  <a:schemeClr val="tx1"/>
                </a:solidFill>
                <a:effectLst/>
                <a:latin typeface="Arial" panose="020B0604020202020204" pitchFamily="34" charset="0"/>
              </a:rPr>
              <a:t>en+gpt-oss</a:t>
            </a:r>
            <a:r>
              <a:rPr kumimoji="0" lang="en-US" altLang="en-US" sz="1200" i="0" u="none" strike="noStrike" cap="none" normalizeH="0" baseline="0" dirty="0">
                <a:ln>
                  <a:noFill/>
                </a:ln>
                <a:solidFill>
                  <a:schemeClr val="tx1"/>
                </a:solidFill>
                <a:effectLst/>
                <a:latin typeface="Arial" panose="020B0604020202020204" pitchFamily="34" charset="0"/>
              </a:rPr>
              <a:t>, </a:t>
            </a:r>
            <a:r>
              <a:rPr lang="en-US" sz="1200" dirty="0" err="1"/>
              <a:t>bge</a:t>
            </a:r>
            <a:r>
              <a:rPr lang="en-US" sz="1200" dirty="0"/>
              <a:t> base </a:t>
            </a:r>
            <a:r>
              <a:rPr lang="en-US" sz="1200" dirty="0" err="1"/>
              <a:t>en+gemma</a:t>
            </a:r>
            <a:r>
              <a:rPr lang="en-US" sz="1200" dirty="0"/>
              <a:t>, </a:t>
            </a:r>
            <a:r>
              <a:rPr lang="en-US" sz="1200" dirty="0" err="1"/>
              <a:t>bge</a:t>
            </a:r>
            <a:r>
              <a:rPr lang="en-US" sz="1200" dirty="0"/>
              <a:t> base </a:t>
            </a:r>
            <a:r>
              <a:rPr lang="en-US" sz="1200" dirty="0" err="1"/>
              <a:t>en+gpt</a:t>
            </a:r>
            <a:r>
              <a:rPr lang="en-US" sz="1200" dirty="0"/>
              <a:t> </a:t>
            </a:r>
            <a:r>
              <a:rPr lang="en-US" sz="1200" dirty="0" err="1"/>
              <a:t>oss</a:t>
            </a:r>
            <a:endParaRPr lang="en-US" sz="1200" dirty="0"/>
          </a:p>
          <a:p>
            <a:pPr marL="0" lvl="0" indent="0" eaLnBrk="0" fontAlgn="base" hangingPunct="0">
              <a:lnSpc>
                <a:spcPct val="100000"/>
              </a:lnSpc>
              <a:spcBef>
                <a:spcPct val="0"/>
              </a:spcBef>
              <a:spcAft>
                <a:spcPct val="0"/>
              </a:spcAft>
            </a:pPr>
            <a:endParaRPr lang="en-US" sz="1200" dirty="0"/>
          </a:p>
          <a:p>
            <a:pPr marL="0" lvl="0" indent="0" eaLnBrk="0" fontAlgn="base" hangingPunct="0">
              <a:lnSpc>
                <a:spcPct val="100000"/>
              </a:lnSpc>
              <a:spcBef>
                <a:spcPct val="0"/>
              </a:spcBef>
              <a:spcAft>
                <a:spcPct val="0"/>
              </a:spcAft>
              <a:buFontTx/>
              <a:buChar char="•"/>
            </a:pPr>
            <a:r>
              <a:rPr lang="en-US" sz="1200" dirty="0"/>
              <a:t> Method Baselines: Similarity-only normal RAG, Exact metadata filter, jurisdiction </a:t>
            </a:r>
            <a:r>
              <a:rPr lang="en-US" sz="1200" dirty="0" err="1"/>
              <a:t>rerank</a:t>
            </a:r>
            <a:r>
              <a:rPr lang="en-US" sz="1200" dirty="0"/>
              <a:t>, my method</a:t>
            </a:r>
          </a:p>
          <a:p>
            <a:pPr marL="0" lvl="0" indent="0" eaLnBrk="0" fontAlgn="base" hangingPunct="0">
              <a:lnSpc>
                <a:spcPct val="100000"/>
              </a:lnSpc>
              <a:spcBef>
                <a:spcPct val="0"/>
              </a:spcBef>
              <a:spcAft>
                <a:spcPct val="0"/>
              </a:spcAft>
            </a:pPr>
            <a:endParaRPr kumimoji="0" lang="en-US" altLang="en-US" sz="12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i="0" u="none" strike="noStrike" cap="none" normalizeH="0" baseline="0" dirty="0">
                <a:ln>
                  <a:noFill/>
                </a:ln>
                <a:solidFill>
                  <a:schemeClr val="tx1"/>
                </a:solidFill>
                <a:effectLst/>
                <a:latin typeface="Arial" panose="020B0604020202020204" pitchFamily="34" charset="0"/>
              </a:rPr>
              <a:t>Evaluation levels: retrieval-level, answer-level</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2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i="0" u="none" strike="noStrike" cap="none" normalizeH="0" baseline="0" dirty="0">
                <a:ln>
                  <a:noFill/>
                </a:ln>
                <a:solidFill>
                  <a:schemeClr val="tx1"/>
                </a:solidFill>
                <a:effectLst/>
                <a:latin typeface="Arial" panose="020B0604020202020204" pitchFamily="34" charset="0"/>
              </a:rPr>
              <a:t>Ablations: graph distance only, granularity only (only looking levels), full metric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2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i="0" u="none" strike="noStrike" cap="none" normalizeH="0" baseline="0" dirty="0">
                <a:ln>
                  <a:noFill/>
                </a:ln>
                <a:solidFill>
                  <a:schemeClr val="tx1"/>
                </a:solidFill>
                <a:effectLst/>
                <a:latin typeface="Arial" panose="020B0604020202020204" pitchFamily="34" charset="0"/>
              </a:rPr>
              <a:t>Judging: semantic similarity, LLM-as-judge (good at reasoning mistral, </a:t>
            </a:r>
            <a:r>
              <a:rPr kumimoji="0" lang="en-US" altLang="en-US" sz="1200" i="0" u="none" strike="noStrike" cap="none" normalizeH="0" baseline="0" dirty="0" err="1">
                <a:ln>
                  <a:noFill/>
                </a:ln>
                <a:solidFill>
                  <a:schemeClr val="tx1"/>
                </a:solidFill>
                <a:effectLst/>
                <a:latin typeface="Arial" panose="020B0604020202020204" pitchFamily="34" charset="0"/>
              </a:rPr>
              <a:t>gpt</a:t>
            </a:r>
            <a:r>
              <a:rPr kumimoji="0" lang="en-US" altLang="en-US" sz="1200" i="0" u="none" strike="noStrike" cap="none" normalizeH="0" baseline="0" dirty="0">
                <a:ln>
                  <a:noFill/>
                </a:ln>
                <a:solidFill>
                  <a:schemeClr val="tx1"/>
                </a:solidFill>
                <a:effectLst/>
                <a:latin typeface="Arial" panose="020B0604020202020204" pitchFamily="34" charset="0"/>
              </a:rPr>
              <a:t> </a:t>
            </a:r>
            <a:r>
              <a:rPr kumimoji="0" lang="en-US" altLang="en-US" sz="1200" i="0" u="none" strike="noStrike" cap="none" normalizeH="0" baseline="0" dirty="0" err="1">
                <a:ln>
                  <a:noFill/>
                </a:ln>
                <a:solidFill>
                  <a:schemeClr val="tx1"/>
                </a:solidFill>
                <a:effectLst/>
                <a:latin typeface="Arial" panose="020B0604020202020204" pitchFamily="34" charset="0"/>
              </a:rPr>
              <a:t>oss</a:t>
            </a:r>
            <a:r>
              <a:rPr kumimoji="0" lang="en-US" altLang="en-US" sz="1200" i="0" u="none" strike="noStrike" cap="none" normalizeH="0" baseline="0" dirty="0">
                <a:ln>
                  <a:noFill/>
                </a:ln>
                <a:solidFill>
                  <a:schemeClr val="tx1"/>
                </a:solidFill>
                <a:effectLst/>
                <a:latin typeface="Arial" panose="020B0604020202020204" pitchFamily="34" charset="0"/>
              </a:rPr>
              <a:t> reasoning focused) for grounded, </a:t>
            </a:r>
            <a:r>
              <a:rPr kumimoji="0" lang="en-US" altLang="en-US" sz="1200" i="0" u="none" strike="noStrike" cap="none" normalizeH="0" baseline="0" dirty="0" err="1">
                <a:ln>
                  <a:noFill/>
                </a:ln>
                <a:solidFill>
                  <a:schemeClr val="tx1"/>
                </a:solidFill>
                <a:effectLst/>
                <a:latin typeface="Arial" panose="020B0604020202020204" pitchFamily="34" charset="0"/>
              </a:rPr>
              <a:t>retrievel</a:t>
            </a:r>
            <a:r>
              <a:rPr kumimoji="0" lang="en-US" altLang="en-US" sz="1200" i="0" u="none" strike="noStrike" cap="none" normalizeH="0" baseline="0" dirty="0">
                <a:ln>
                  <a:noFill/>
                </a:ln>
                <a:solidFill>
                  <a:schemeClr val="tx1"/>
                </a:solidFill>
                <a:effectLst/>
                <a:latin typeface="Arial" panose="020B0604020202020204" pitchFamily="34" charset="0"/>
              </a:rPr>
              <a:t> quality etc.</a:t>
            </a:r>
          </a:p>
          <a:p>
            <a:pPr lvl="1" eaLnBrk="0" fontAlgn="base" hangingPunct="0">
              <a:spcBef>
                <a:spcPct val="0"/>
              </a:spcBef>
              <a:spcAft>
                <a:spcPct val="0"/>
              </a:spcAft>
              <a:buFontTx/>
              <a:buChar char="•"/>
            </a:pPr>
            <a:r>
              <a:rPr lang="en-US" altLang="en-US" sz="1200" dirty="0">
                <a:solidFill>
                  <a:srgbClr val="FF0000"/>
                </a:solidFill>
                <a:latin typeface="Arial" panose="020B0604020202020204" pitchFamily="34" charset="0"/>
              </a:rPr>
              <a:t>How close retrieved passages are to question</a:t>
            </a:r>
          </a:p>
          <a:p>
            <a:pPr lvl="1" eaLnBrk="0" fontAlgn="base" hangingPunct="0">
              <a:spcBef>
                <a:spcPct val="0"/>
              </a:spcBef>
              <a:spcAft>
                <a:spcPct val="0"/>
              </a:spcAft>
              <a:buFontTx/>
              <a:buChar char="•"/>
            </a:pPr>
            <a:r>
              <a:rPr kumimoji="0" lang="en-US" altLang="en-US" sz="1200" i="0" u="none" strike="noStrike" cap="none" normalizeH="0" baseline="0" dirty="0">
                <a:ln>
                  <a:noFill/>
                </a:ln>
                <a:solidFill>
                  <a:srgbClr val="FF0000"/>
                </a:solidFill>
                <a:effectLst/>
                <a:latin typeface="Arial" panose="020B0604020202020204" pitchFamily="34" charset="0"/>
              </a:rPr>
              <a:t>How correct answer is to the ground truth (cross encoder to label to label support or opposes </a:t>
            </a:r>
            <a:r>
              <a:rPr kumimoji="0" lang="en-US" altLang="en-US" sz="1200" i="0" u="none" strike="noStrike" cap="none" normalizeH="0" baseline="0" dirty="0" err="1">
                <a:ln>
                  <a:noFill/>
                </a:ln>
                <a:solidFill>
                  <a:srgbClr val="FF0000"/>
                </a:solidFill>
                <a:effectLst/>
                <a:latin typeface="Arial" panose="020B0604020202020204" pitchFamily="34" charset="0"/>
              </a:rPr>
              <a:t>gt</a:t>
            </a:r>
            <a:r>
              <a:rPr kumimoji="0" lang="en-US" altLang="en-US" sz="1200" i="0" u="none" strike="noStrike" cap="none" normalizeH="0" baseline="0" dirty="0">
                <a:ln>
                  <a:noFill/>
                </a:ln>
                <a:solidFill>
                  <a:srgbClr val="FF0000"/>
                </a:solidFill>
                <a:effectLst/>
                <a:latin typeface="Arial" panose="020B0604020202020204" pitchFamily="34" charset="0"/>
              </a:rPr>
              <a:t> (entailment task we can check using cross encoder)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i="0" u="none" strike="noStrike" cap="none" normalizeH="0" baseline="0" dirty="0">
                <a:ln>
                  <a:noFill/>
                </a:ln>
                <a:solidFill>
                  <a:schemeClr val="tx1"/>
                </a:solidFill>
                <a:effectLst/>
                <a:latin typeface="Arial" panose="020B0604020202020204" pitchFamily="34" charset="0"/>
              </a:rPr>
              <a:t>Error buckets: exact miss, sibling near-miss, </a:t>
            </a:r>
          </a:p>
        </p:txBody>
      </p:sp>
      <p:sp>
        <p:nvSpPr>
          <p:cNvPr id="7" name="TextBox 6">
            <a:extLst>
              <a:ext uri="{FF2B5EF4-FFF2-40B4-BE49-F238E27FC236}">
                <a16:creationId xmlns:a16="http://schemas.microsoft.com/office/drawing/2014/main" id="{E433005A-A8E0-C08D-60D1-FD9758FAFD20}"/>
              </a:ext>
            </a:extLst>
          </p:cNvPr>
          <p:cNvSpPr txBox="1"/>
          <p:nvPr/>
        </p:nvSpPr>
        <p:spPr>
          <a:xfrm>
            <a:off x="7188200" y="4984379"/>
            <a:ext cx="4739640" cy="1015663"/>
          </a:xfrm>
          <a:prstGeom prst="rect">
            <a:avLst/>
          </a:prstGeom>
          <a:noFill/>
        </p:spPr>
        <p:txBody>
          <a:bodyPr wrap="square">
            <a:spAutoFit/>
          </a:bodyPr>
          <a:lstStyle/>
          <a:p>
            <a:pPr>
              <a:buNone/>
            </a:pPr>
            <a:r>
              <a:rPr lang="en-US" sz="1200" dirty="0"/>
              <a:t>show:</a:t>
            </a:r>
            <a:endParaRPr lang="en-US" sz="1200" b="1" dirty="0"/>
          </a:p>
          <a:p>
            <a:pPr>
              <a:buFont typeface="Arial" panose="020B0604020202020204" pitchFamily="34" charset="0"/>
              <a:buChar char="•"/>
            </a:pPr>
            <a:r>
              <a:rPr lang="en-US" sz="1200" dirty="0"/>
              <a:t>filtering alone fails when exact docs are missing </a:t>
            </a:r>
          </a:p>
          <a:p>
            <a:pPr>
              <a:buFont typeface="Arial" panose="020B0604020202020204" pitchFamily="34" charset="0"/>
              <a:buChar char="•"/>
            </a:pPr>
            <a:r>
              <a:rPr lang="en-US" sz="1200" dirty="0"/>
              <a:t>similarity alone retrieves wrong-but-similar jurisdictions </a:t>
            </a:r>
          </a:p>
          <a:p>
            <a:pPr>
              <a:buFont typeface="Arial" panose="020B0604020202020204" pitchFamily="34" charset="0"/>
              <a:buChar char="•"/>
            </a:pPr>
            <a:r>
              <a:rPr lang="en-US" sz="1200" dirty="0"/>
              <a:t>this method handles mismatch better by deciding when to warn or abstain, or by preferring lower-risk evidence</a:t>
            </a:r>
          </a:p>
        </p:txBody>
      </p:sp>
    </p:spTree>
    <p:extLst>
      <p:ext uri="{BB962C8B-B14F-4D97-AF65-F5344CB8AC3E}">
        <p14:creationId xmlns:p14="http://schemas.microsoft.com/office/powerpoint/2010/main" val="34718885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8C3867-4A42-2CBB-6E2B-B71452B0D830}"/>
              </a:ext>
            </a:extLst>
          </p:cNvPr>
          <p:cNvSpPr>
            <a:spLocks noGrp="1"/>
          </p:cNvSpPr>
          <p:nvPr>
            <p:ph type="title"/>
          </p:nvPr>
        </p:nvSpPr>
        <p:spPr>
          <a:xfrm>
            <a:off x="838200" y="365125"/>
            <a:ext cx="5041232" cy="1325563"/>
          </a:xfrm>
        </p:spPr>
        <p:txBody>
          <a:bodyPr/>
          <a:lstStyle/>
          <a:p>
            <a:r>
              <a:rPr lang="en-US" dirty="0"/>
              <a:t>Notes and thoughts</a:t>
            </a:r>
          </a:p>
        </p:txBody>
      </p:sp>
      <p:sp>
        <p:nvSpPr>
          <p:cNvPr id="3" name="Content Placeholder 2">
            <a:extLst>
              <a:ext uri="{FF2B5EF4-FFF2-40B4-BE49-F238E27FC236}">
                <a16:creationId xmlns:a16="http://schemas.microsoft.com/office/drawing/2014/main" id="{9B2EA14D-D200-7214-0671-944E9144C9C5}"/>
              </a:ext>
            </a:extLst>
          </p:cNvPr>
          <p:cNvSpPr>
            <a:spLocks noGrp="1"/>
          </p:cNvSpPr>
          <p:nvPr>
            <p:ph idx="1"/>
          </p:nvPr>
        </p:nvSpPr>
        <p:spPr/>
        <p:txBody>
          <a:bodyPr>
            <a:normAutofit/>
          </a:bodyPr>
          <a:lstStyle/>
          <a:p>
            <a:pPr>
              <a:buFontTx/>
              <a:buChar char="-"/>
            </a:pPr>
            <a:r>
              <a:rPr lang="en-US" sz="2000" dirty="0"/>
              <a:t>Phrase it as risk-aware retrieval for scope-sensitive questions</a:t>
            </a:r>
          </a:p>
          <a:p>
            <a:pPr>
              <a:buFontTx/>
              <a:buChar char="-"/>
            </a:pPr>
            <a:r>
              <a:rPr lang="en-US" sz="2000" dirty="0"/>
              <a:t># of questions? Loc specific- around 250 non location 250 (try to keep both around same size)</a:t>
            </a:r>
          </a:p>
          <a:p>
            <a:pPr>
              <a:buFontTx/>
              <a:buChar char="-"/>
            </a:pPr>
            <a:r>
              <a:rPr lang="en-US" sz="2000" dirty="0"/>
              <a:t>How to choose </a:t>
            </a:r>
            <a:r>
              <a:rPr lang="en-US" sz="2000" dirty="0" err="1"/>
              <a:t>topk</a:t>
            </a:r>
            <a:r>
              <a:rPr lang="en-US" sz="2000" dirty="0"/>
              <a:t>- threshold</a:t>
            </a:r>
          </a:p>
          <a:p>
            <a:pPr lvl="1">
              <a:buFontTx/>
              <a:buChar char="-"/>
            </a:pPr>
            <a:r>
              <a:rPr lang="en-US" sz="1600" dirty="0"/>
              <a:t> </a:t>
            </a:r>
          </a:p>
          <a:p>
            <a:pPr>
              <a:buFontTx/>
              <a:buChar char="-"/>
            </a:pPr>
            <a:r>
              <a:rPr lang="en-US" sz="2000" dirty="0"/>
              <a:t>I think we can phrase it as:</a:t>
            </a:r>
          </a:p>
          <a:p>
            <a:pPr>
              <a:buFontTx/>
              <a:buChar char="-"/>
            </a:pPr>
            <a:r>
              <a:rPr lang="en-US" sz="1400" dirty="0"/>
              <a:t>We investigate retrieval for geographically scope-sensitive questions using wildfire information systems as our evaluation domain, where semantically similar documents may be unsafe or inapplicable because they come from the wrong jurisdiction or authority level. We propose an applicability-risk metric that improves evidence-based ranking and supports selective answering, warning, and abstention under imperfect retrieval.</a:t>
            </a:r>
          </a:p>
          <a:p>
            <a:pPr>
              <a:buFontTx/>
              <a:buChar char="-"/>
            </a:pPr>
            <a:endParaRPr lang="en-US" sz="2000" dirty="0"/>
          </a:p>
          <a:p>
            <a:pPr marL="0" indent="0">
              <a:buNone/>
            </a:pPr>
            <a:endParaRPr lang="en-US" sz="2000" dirty="0"/>
          </a:p>
          <a:p>
            <a:pPr marL="0" indent="0">
              <a:buNone/>
            </a:pPr>
            <a:endParaRPr lang="en-US" sz="2000" dirty="0"/>
          </a:p>
          <a:p>
            <a:pPr marL="0" indent="0">
              <a:buNone/>
            </a:pPr>
            <a:endParaRPr lang="en-US" sz="2000" dirty="0"/>
          </a:p>
        </p:txBody>
      </p:sp>
      <p:sp>
        <p:nvSpPr>
          <p:cNvPr id="5" name="Rectangle 2">
            <a:extLst>
              <a:ext uri="{FF2B5EF4-FFF2-40B4-BE49-F238E27FC236}">
                <a16:creationId xmlns:a16="http://schemas.microsoft.com/office/drawing/2014/main" id="{D60F5469-07A9-4548-247A-D31D22A0609B}"/>
              </a:ext>
            </a:extLst>
          </p:cNvPr>
          <p:cNvSpPr>
            <a:spLocks noChangeArrowheads="1"/>
          </p:cNvSpPr>
          <p:nvPr/>
        </p:nvSpPr>
        <p:spPr bwMode="auto">
          <a:xfrm>
            <a:off x="770660" y="4641894"/>
            <a:ext cx="6365240"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lang="en-US" altLang="en-US" sz="1600" dirty="0">
                <a:latin typeface="Arial" panose="020B0604020202020204" pitchFamily="34" charset="0"/>
              </a:rPr>
              <a:t>- </a:t>
            </a:r>
            <a:r>
              <a:rPr kumimoji="0" lang="en-US" altLang="en-US" sz="1600" b="0" i="0" u="none" strike="noStrike" cap="none" normalizeH="0" baseline="0" dirty="0">
                <a:ln>
                  <a:noFill/>
                </a:ln>
                <a:solidFill>
                  <a:schemeClr val="tx1"/>
                </a:solidFill>
                <a:effectLst/>
                <a:latin typeface="Arial" panose="020B0604020202020204" pitchFamily="34" charset="0"/>
              </a:rPr>
              <a:t>missing or inconsistent parent-child relations – used </a:t>
            </a:r>
            <a:r>
              <a:rPr kumimoji="0" lang="en-US" altLang="en-US" sz="1600" b="0" i="0" u="none" strike="noStrike" cap="none" normalizeH="0" baseline="0" dirty="0" err="1">
                <a:ln>
                  <a:noFill/>
                </a:ln>
                <a:solidFill>
                  <a:schemeClr val="tx1"/>
                </a:solidFill>
                <a:effectLst/>
                <a:latin typeface="Arial" panose="020B0604020202020204" pitchFamily="34" charset="0"/>
              </a:rPr>
              <a:t>wikidata</a:t>
            </a:r>
            <a:r>
              <a:rPr kumimoji="0" lang="en-US" altLang="en-US" sz="1600" b="0" i="0" u="none" strike="noStrike" cap="none" normalizeH="0" baseline="0" dirty="0">
                <a:ln>
                  <a:noFill/>
                </a:ln>
                <a:solidFill>
                  <a:schemeClr val="tx1"/>
                </a:solidFill>
                <a:effectLst/>
                <a:latin typeface="Arial" panose="020B0604020202020204" pitchFamily="34" charset="0"/>
              </a:rPr>
              <a:t> to build initial mapping and </a:t>
            </a:r>
            <a:r>
              <a:rPr kumimoji="0" lang="en-US" altLang="en-US" sz="1600" b="0" i="0" u="none" strike="noStrike" cap="none" normalizeH="0" baseline="0" dirty="0" err="1">
                <a:ln>
                  <a:noFill/>
                </a:ln>
                <a:solidFill>
                  <a:schemeClr val="tx1"/>
                </a:solidFill>
                <a:effectLst/>
                <a:latin typeface="Arial" panose="020B0604020202020204" pitchFamily="34" charset="0"/>
              </a:rPr>
              <a:t>manualy</a:t>
            </a:r>
            <a:r>
              <a:rPr kumimoji="0" lang="en-US" altLang="en-US" sz="1600" b="0" i="0" u="none" strike="noStrike" cap="none" normalizeH="0" baseline="0" dirty="0">
                <a:ln>
                  <a:noFill/>
                </a:ln>
                <a:solidFill>
                  <a:schemeClr val="tx1"/>
                </a:solidFill>
                <a:effectLst/>
                <a:latin typeface="Arial" panose="020B0604020202020204" pitchFamily="34" charset="0"/>
              </a:rPr>
              <a:t> prune missing child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differences across countries in administrative structure,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ambiguous place names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places that belong to multiple relevant structures,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governing bodies that do not align cleanly with geography- ask the user/clarification</a:t>
            </a:r>
          </a:p>
        </p:txBody>
      </p:sp>
      <p:sp>
        <p:nvSpPr>
          <p:cNvPr id="6" name="Rectangle 3">
            <a:extLst>
              <a:ext uri="{FF2B5EF4-FFF2-40B4-BE49-F238E27FC236}">
                <a16:creationId xmlns:a16="http://schemas.microsoft.com/office/drawing/2014/main" id="{802A1248-140E-5885-208C-310167E4F757}"/>
              </a:ext>
            </a:extLst>
          </p:cNvPr>
          <p:cNvSpPr>
            <a:spLocks noChangeArrowheads="1"/>
          </p:cNvSpPr>
          <p:nvPr/>
        </p:nvSpPr>
        <p:spPr bwMode="auto">
          <a:xfrm>
            <a:off x="7068359" y="4811171"/>
            <a:ext cx="4808220"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lang="en-US" altLang="en-US" sz="1400" dirty="0">
                <a:latin typeface="Arial" panose="020B0604020202020204" pitchFamily="34" charset="0"/>
              </a:rPr>
              <a:t>Solutions</a:t>
            </a: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err="1">
                <a:ln>
                  <a:noFill/>
                </a:ln>
                <a:solidFill>
                  <a:schemeClr val="tx1"/>
                </a:solidFill>
                <a:effectLst/>
                <a:latin typeface="Arial" panose="020B0604020202020204" pitchFamily="34" charset="0"/>
              </a:rPr>
              <a:t>Wikidata</a:t>
            </a:r>
            <a:r>
              <a:rPr kumimoji="0" lang="en-US" altLang="en-US" sz="1400" b="0" i="0" u="none" strike="noStrike" cap="none" normalizeH="0" baseline="0" dirty="0">
                <a:ln>
                  <a:noFill/>
                </a:ln>
                <a:solidFill>
                  <a:schemeClr val="tx1"/>
                </a:solidFill>
                <a:effectLst/>
                <a:latin typeface="Arial" panose="020B0604020202020204" pitchFamily="34" charset="0"/>
              </a:rPr>
              <a:t> for hierarchy and aliases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Who’s On First or </a:t>
            </a:r>
            <a:r>
              <a:rPr kumimoji="0" lang="en-US" altLang="en-US" sz="1400" b="0" i="0" u="none" strike="noStrike" cap="none" normalizeH="0" baseline="0" dirty="0" err="1">
                <a:ln>
                  <a:noFill/>
                </a:ln>
                <a:solidFill>
                  <a:schemeClr val="tx1"/>
                </a:solidFill>
                <a:effectLst/>
                <a:latin typeface="Arial" panose="020B0604020202020204" pitchFamily="34" charset="0"/>
              </a:rPr>
              <a:t>GeoNames</a:t>
            </a:r>
            <a:r>
              <a:rPr kumimoji="0" lang="en-US" altLang="en-US" sz="1400" b="0" i="0" u="none" strike="noStrike" cap="none" normalizeH="0" baseline="0" dirty="0">
                <a:ln>
                  <a:noFill/>
                </a:ln>
                <a:solidFill>
                  <a:schemeClr val="tx1"/>
                </a:solidFill>
                <a:effectLst/>
                <a:latin typeface="Arial" panose="020B0604020202020204" pitchFamily="34" charset="0"/>
              </a:rPr>
              <a:t> for place identity and hierarchies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OSM or GADM for boundaries and overlap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official registries for functional authorities like school districts, tribal lands, utilities, fire districts</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1400" dirty="0">
                <a:latin typeface="Arial" panose="020B0604020202020204" pitchFamily="34" charset="0"/>
              </a:rPr>
              <a:t>Add to limitations</a:t>
            </a: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
        <p:nvSpPr>
          <p:cNvPr id="4" name="TextBox 3">
            <a:extLst>
              <a:ext uri="{FF2B5EF4-FFF2-40B4-BE49-F238E27FC236}">
                <a16:creationId xmlns:a16="http://schemas.microsoft.com/office/drawing/2014/main" id="{A94CC562-EDEC-F470-E6AD-0298CE9D60EA}"/>
              </a:ext>
            </a:extLst>
          </p:cNvPr>
          <p:cNvSpPr txBox="1"/>
          <p:nvPr/>
        </p:nvSpPr>
        <p:spPr>
          <a:xfrm>
            <a:off x="6906126" y="401053"/>
            <a:ext cx="3195811" cy="369332"/>
          </a:xfrm>
          <a:prstGeom prst="rect">
            <a:avLst/>
          </a:prstGeom>
          <a:noFill/>
        </p:spPr>
        <p:txBody>
          <a:bodyPr wrap="none" rtlCol="0">
            <a:spAutoFit/>
          </a:bodyPr>
          <a:lstStyle/>
          <a:p>
            <a:r>
              <a:rPr lang="en-US" dirty="0"/>
              <a:t>Most frequent rivers/mountain</a:t>
            </a:r>
          </a:p>
        </p:txBody>
      </p:sp>
    </p:spTree>
    <p:extLst>
      <p:ext uri="{BB962C8B-B14F-4D97-AF65-F5344CB8AC3E}">
        <p14:creationId xmlns:p14="http://schemas.microsoft.com/office/powerpoint/2010/main" val="33729421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728A5F-6753-60FE-47DE-5919DB495F3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4045088-8BB1-8F2E-6A17-2E35FC9F4B5B}"/>
              </a:ext>
            </a:extLst>
          </p:cNvPr>
          <p:cNvSpPr>
            <a:spLocks noGrp="1"/>
          </p:cNvSpPr>
          <p:nvPr>
            <p:ph idx="1"/>
          </p:nvPr>
        </p:nvSpPr>
        <p:spPr/>
        <p:txBody>
          <a:bodyPr/>
          <a:lstStyle/>
          <a:p>
            <a:r>
              <a:rPr lang="en-US" dirty="0"/>
              <a:t>Butte County has a unique geography. It extends from the floor of a valley into a high-mountain region. The landscape is made up of ridge lines that separate the county’s communities. Canyons split the county into seven regions, the jagged terrain limiting access across the ridges. Communication and outreach are difficult and time-consuming efforts for residents and officials. The physical differences in the county caused the need for custom strategies for each community.</a:t>
            </a:r>
          </a:p>
          <a:p>
            <a:r>
              <a:rPr lang="en-US" dirty="0"/>
              <a:t>https://</a:t>
            </a:r>
            <a:r>
              <a:rPr lang="en-US" dirty="0" err="1"/>
              <a:t>www.fema.gov</a:t>
            </a:r>
            <a:r>
              <a:rPr lang="en-US" dirty="0"/>
              <a:t>/case-study/ashes-paradise-community-plans-forged-wildfire</a:t>
            </a:r>
          </a:p>
        </p:txBody>
      </p:sp>
    </p:spTree>
    <p:extLst>
      <p:ext uri="{BB962C8B-B14F-4D97-AF65-F5344CB8AC3E}">
        <p14:creationId xmlns:p14="http://schemas.microsoft.com/office/powerpoint/2010/main" val="25438412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81159B6-2198-E3E2-DCFB-9EC81FDC93A2}"/>
              </a:ext>
            </a:extLst>
          </p:cNvPr>
          <p:cNvSpPr>
            <a:spLocks noGrp="1"/>
          </p:cNvSpPr>
          <p:nvPr>
            <p:ph type="ctrTitle"/>
          </p:nvPr>
        </p:nvSpPr>
        <p:spPr/>
        <p:txBody>
          <a:bodyPr/>
          <a:lstStyle/>
          <a:p>
            <a:r>
              <a:rPr lang="en-US" dirty="0"/>
              <a:t>Week of 04/19</a:t>
            </a:r>
          </a:p>
        </p:txBody>
      </p:sp>
      <p:sp>
        <p:nvSpPr>
          <p:cNvPr id="3" name="Content Placeholder 2">
            <a:extLst>
              <a:ext uri="{FF2B5EF4-FFF2-40B4-BE49-F238E27FC236}">
                <a16:creationId xmlns:a16="http://schemas.microsoft.com/office/drawing/2014/main" id="{990438B6-D20F-671E-5B74-DFCC3CDBD1DF}"/>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27026412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0035DA-43DE-46B2-B67A-79BC05AEDC91}"/>
              </a:ext>
            </a:extLst>
          </p:cNvPr>
          <p:cNvSpPr>
            <a:spLocks noGrp="1"/>
          </p:cNvSpPr>
          <p:nvPr>
            <p:ph type="title"/>
          </p:nvPr>
        </p:nvSpPr>
        <p:spPr/>
        <p:txBody>
          <a:bodyPr/>
          <a:lstStyle/>
          <a:p>
            <a:r>
              <a:rPr lang="en-US" dirty="0"/>
              <a:t>Resolving Some Limitations</a:t>
            </a:r>
          </a:p>
        </p:txBody>
      </p:sp>
      <p:sp>
        <p:nvSpPr>
          <p:cNvPr id="3" name="Content Placeholder 2">
            <a:extLst>
              <a:ext uri="{FF2B5EF4-FFF2-40B4-BE49-F238E27FC236}">
                <a16:creationId xmlns:a16="http://schemas.microsoft.com/office/drawing/2014/main" id="{DE0E69E8-404A-8F89-97E7-20BCBAB814F1}"/>
              </a:ext>
            </a:extLst>
          </p:cNvPr>
          <p:cNvSpPr>
            <a:spLocks noGrp="1"/>
          </p:cNvSpPr>
          <p:nvPr>
            <p:ph idx="1"/>
          </p:nvPr>
        </p:nvSpPr>
        <p:spPr/>
        <p:txBody>
          <a:bodyPr>
            <a:normAutofit fontScale="55000" lnSpcReduction="20000"/>
          </a:bodyPr>
          <a:lstStyle/>
          <a:p>
            <a:r>
              <a:rPr lang="en-US" dirty="0"/>
              <a:t>Resolve a place name into its administrative hierarchy (city → county → state →region →  country) using </a:t>
            </a:r>
            <a:r>
              <a:rPr lang="en-US" dirty="0" err="1"/>
              <a:t>Wikidata</a:t>
            </a:r>
            <a:endParaRPr lang="en-US" dirty="0"/>
          </a:p>
          <a:p>
            <a:pPr lvl="1"/>
            <a:r>
              <a:rPr lang="en-US" dirty="0"/>
              <a:t>These 4 are the main levels referenced in these types of questions</a:t>
            </a:r>
          </a:p>
          <a:p>
            <a:pPr lvl="1"/>
            <a:r>
              <a:rPr lang="en-US" dirty="0"/>
              <a:t>Not much in municipality level, especially in US</a:t>
            </a:r>
          </a:p>
          <a:p>
            <a:r>
              <a:rPr lang="en-US" dirty="0"/>
              <a:t>4 prioritized disambiguation methods for ambiguous place names like "Springfield.”</a:t>
            </a:r>
          </a:p>
          <a:p>
            <a:pPr lvl="1"/>
            <a:r>
              <a:rPr lang="en-US" dirty="0"/>
              <a:t>Explicit state: if state is provided, appends it to the query for direct lookup</a:t>
            </a:r>
          </a:p>
          <a:p>
            <a:pPr lvl="1"/>
            <a:r>
              <a:rPr lang="en-US" dirty="0"/>
              <a:t>Context: extracts state mentions from surrounding text via flair NER</a:t>
            </a:r>
          </a:p>
          <a:p>
            <a:pPr lvl="1"/>
            <a:r>
              <a:rPr lang="en-US" dirty="0"/>
              <a:t>Population: picks the most populous US candidate from </a:t>
            </a:r>
            <a:r>
              <a:rPr lang="en-US" dirty="0" err="1"/>
              <a:t>Wikidata</a:t>
            </a:r>
            <a:endParaRPr lang="en-US" dirty="0"/>
          </a:p>
          <a:p>
            <a:pPr lvl="1"/>
            <a:r>
              <a:rPr lang="en-US" dirty="0"/>
              <a:t>Sitelinks: fallback to the most Wikipedia-referenced candidate</a:t>
            </a:r>
          </a:p>
          <a:p>
            <a:pPr lvl="2"/>
            <a:r>
              <a:rPr lang="en-US" dirty="0">
                <a:solidFill>
                  <a:srgbClr val="FF0000"/>
                </a:solidFill>
              </a:rPr>
              <a:t>Level of confidence based on number of queries asked about that location</a:t>
            </a:r>
          </a:p>
          <a:p>
            <a:pPr lvl="2"/>
            <a:r>
              <a:rPr lang="en-US" dirty="0">
                <a:solidFill>
                  <a:srgbClr val="FF0000"/>
                </a:solidFill>
              </a:rPr>
              <a:t>Based on this ask</a:t>
            </a:r>
          </a:p>
          <a:p>
            <a:r>
              <a:rPr lang="en-US" dirty="0"/>
              <a:t>For natural area, </a:t>
            </a:r>
            <a:r>
              <a:rPr lang="en-US" dirty="0" err="1"/>
              <a:t>wikidata</a:t>
            </a:r>
            <a:r>
              <a:rPr lang="en-US" dirty="0"/>
              <a:t> uses:</a:t>
            </a:r>
          </a:p>
          <a:p>
            <a:pPr lvl="1"/>
            <a:r>
              <a:rPr lang="en-US" dirty="0"/>
              <a:t>Mouth of river, summit of mountain</a:t>
            </a:r>
          </a:p>
          <a:p>
            <a:pPr lvl="1"/>
            <a:r>
              <a:rPr lang="en-US" dirty="0"/>
              <a:t>In practical use we would ask user for follow up</a:t>
            </a:r>
          </a:p>
          <a:p>
            <a:r>
              <a:rPr lang="en-US" dirty="0"/>
              <a:t>Alias names from </a:t>
            </a:r>
            <a:r>
              <a:rPr lang="en-US" dirty="0" err="1"/>
              <a:t>wikidata</a:t>
            </a:r>
            <a:endParaRPr lang="en-US" dirty="0"/>
          </a:p>
          <a:p>
            <a:pPr lvl="1"/>
            <a:r>
              <a:rPr lang="en-US" dirty="0"/>
              <a:t>E.g. the sunshine state for </a:t>
            </a:r>
            <a:r>
              <a:rPr lang="en-US" dirty="0" err="1"/>
              <a:t>florida</a:t>
            </a:r>
            <a:endParaRPr lang="en-US" dirty="0"/>
          </a:p>
          <a:p>
            <a:r>
              <a:rPr lang="en-US" dirty="0"/>
              <a:t>For tribal lands, </a:t>
            </a:r>
            <a:r>
              <a:rPr lang="en-US" dirty="0" err="1"/>
              <a:t>wikidata</a:t>
            </a:r>
            <a:r>
              <a:rPr lang="en-US" dirty="0"/>
              <a:t> uses</a:t>
            </a:r>
          </a:p>
          <a:p>
            <a:pPr lvl="1"/>
            <a:r>
              <a:rPr lang="en-US" dirty="0"/>
              <a:t>Maps to all the states that the land covers</a:t>
            </a:r>
          </a:p>
          <a:p>
            <a:r>
              <a:rPr lang="en-US" dirty="0">
                <a:solidFill>
                  <a:srgbClr val="FF0000"/>
                </a:solidFill>
              </a:rPr>
              <a:t>Add questions without clarifying location and test how well the clarifying questions are.</a:t>
            </a:r>
          </a:p>
        </p:txBody>
      </p:sp>
    </p:spTree>
    <p:extLst>
      <p:ext uri="{BB962C8B-B14F-4D97-AF65-F5344CB8AC3E}">
        <p14:creationId xmlns:p14="http://schemas.microsoft.com/office/powerpoint/2010/main" val="25153223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B3B17F-C33A-163F-C8F5-4B658E3E7E33}"/>
              </a:ext>
            </a:extLst>
          </p:cNvPr>
          <p:cNvSpPr>
            <a:spLocks noGrp="1"/>
          </p:cNvSpPr>
          <p:nvPr>
            <p:ph type="title"/>
          </p:nvPr>
        </p:nvSpPr>
        <p:spPr/>
        <p:txBody>
          <a:bodyPr/>
          <a:lstStyle/>
          <a:p>
            <a:r>
              <a:rPr lang="en-US" dirty="0"/>
              <a:t>Get all locations from chunked passages</a:t>
            </a:r>
          </a:p>
        </p:txBody>
      </p:sp>
      <p:sp>
        <p:nvSpPr>
          <p:cNvPr id="3" name="Content Placeholder 2">
            <a:extLst>
              <a:ext uri="{FF2B5EF4-FFF2-40B4-BE49-F238E27FC236}">
                <a16:creationId xmlns:a16="http://schemas.microsoft.com/office/drawing/2014/main" id="{854B209C-D955-7AAB-2831-6D6704145257}"/>
              </a:ext>
            </a:extLst>
          </p:cNvPr>
          <p:cNvSpPr>
            <a:spLocks noGrp="1"/>
          </p:cNvSpPr>
          <p:nvPr>
            <p:ph idx="1"/>
          </p:nvPr>
        </p:nvSpPr>
        <p:spPr/>
        <p:txBody>
          <a:bodyPr/>
          <a:lstStyle/>
          <a:p>
            <a:r>
              <a:rPr lang="en-US" dirty="0"/>
              <a:t>Use flair </a:t>
            </a:r>
            <a:r>
              <a:rPr lang="en-US" dirty="0" err="1"/>
              <a:t>ner</a:t>
            </a:r>
            <a:endParaRPr lang="en-US" dirty="0"/>
          </a:p>
          <a:p>
            <a:r>
              <a:rPr lang="en-US" dirty="0"/>
              <a:t>Gets a list of mentioned locations</a:t>
            </a:r>
          </a:p>
          <a:p>
            <a:r>
              <a:rPr lang="en-US" dirty="0"/>
              <a:t>Uses state folder for breaking ambiguities</a:t>
            </a:r>
          </a:p>
          <a:p>
            <a:r>
              <a:rPr lang="en-US" dirty="0"/>
              <a:t>Get aliases also</a:t>
            </a:r>
          </a:p>
          <a:p>
            <a:r>
              <a:rPr lang="en-US" dirty="0"/>
              <a:t>From list use </a:t>
            </a:r>
            <a:r>
              <a:rPr lang="en-US" dirty="0" err="1"/>
              <a:t>llm</a:t>
            </a:r>
            <a:r>
              <a:rPr lang="en-US" dirty="0"/>
              <a:t> to get what the passage is about</a:t>
            </a:r>
          </a:p>
        </p:txBody>
      </p:sp>
    </p:spTree>
    <p:extLst>
      <p:ext uri="{BB962C8B-B14F-4D97-AF65-F5344CB8AC3E}">
        <p14:creationId xmlns:p14="http://schemas.microsoft.com/office/powerpoint/2010/main" val="23185926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0AEF13-0EDE-9C42-0679-27152737FD92}"/>
              </a:ext>
            </a:extLst>
          </p:cNvPr>
          <p:cNvSpPr>
            <a:spLocks noGrp="1"/>
          </p:cNvSpPr>
          <p:nvPr>
            <p:ph type="title"/>
          </p:nvPr>
        </p:nvSpPr>
        <p:spPr/>
        <p:txBody>
          <a:bodyPr/>
          <a:lstStyle/>
          <a:p>
            <a:r>
              <a:rPr lang="en-US" dirty="0"/>
              <a:t>Geo Extraction Steps</a:t>
            </a:r>
          </a:p>
        </p:txBody>
      </p:sp>
      <p:sp>
        <p:nvSpPr>
          <p:cNvPr id="3" name="Content Placeholder 2">
            <a:extLst>
              <a:ext uri="{FF2B5EF4-FFF2-40B4-BE49-F238E27FC236}">
                <a16:creationId xmlns:a16="http://schemas.microsoft.com/office/drawing/2014/main" id="{AD1345EF-A29C-ECBC-50BF-65FCDD90D5B9}"/>
              </a:ext>
            </a:extLst>
          </p:cNvPr>
          <p:cNvSpPr>
            <a:spLocks noGrp="1"/>
          </p:cNvSpPr>
          <p:nvPr>
            <p:ph idx="1"/>
          </p:nvPr>
        </p:nvSpPr>
        <p:spPr/>
        <p:txBody>
          <a:bodyPr>
            <a:normAutofit/>
          </a:bodyPr>
          <a:lstStyle/>
          <a:p>
            <a:r>
              <a:rPr lang="en-US" dirty="0"/>
              <a:t>Load </a:t>
            </a:r>
            <a:r>
              <a:rPr lang="en-US" dirty="0" err="1"/>
              <a:t>pkl</a:t>
            </a:r>
            <a:r>
              <a:rPr lang="en-US" dirty="0"/>
              <a:t> files of semantic nodes (news + pdf)</a:t>
            </a:r>
          </a:p>
          <a:p>
            <a:r>
              <a:rPr lang="en-US" dirty="0"/>
              <a:t>Run </a:t>
            </a:r>
            <a:r>
              <a:rPr lang="en-US" dirty="0" err="1"/>
              <a:t>process_pkl_batched</a:t>
            </a:r>
            <a:r>
              <a:rPr lang="en-US" dirty="0"/>
              <a:t> which batches nodes, creates Flair sentences in parallel, predicts NER tags, extracts LOC entities with confidence ≥ 0.85, normalizes location variants, and saves checkpoints in background</a:t>
            </a:r>
          </a:p>
          <a:p>
            <a:r>
              <a:rPr lang="en-US" dirty="0"/>
              <a:t>If no locations found for a node, fall back to folder name</a:t>
            </a:r>
          </a:p>
          <a:p>
            <a:r>
              <a:rPr lang="en-US" dirty="0"/>
              <a:t>Save</a:t>
            </a:r>
          </a:p>
        </p:txBody>
      </p:sp>
    </p:spTree>
    <p:extLst>
      <p:ext uri="{BB962C8B-B14F-4D97-AF65-F5344CB8AC3E}">
        <p14:creationId xmlns:p14="http://schemas.microsoft.com/office/powerpoint/2010/main" val="39018264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643B074-75B4-11D1-234B-E49ABC4B678A}"/>
              </a:ext>
            </a:extLst>
          </p:cNvPr>
          <p:cNvSpPr>
            <a:spLocks noGrp="1"/>
          </p:cNvSpPr>
          <p:nvPr>
            <p:ph type="ctrTitle"/>
          </p:nvPr>
        </p:nvSpPr>
        <p:spPr/>
        <p:txBody>
          <a:bodyPr/>
          <a:lstStyle/>
          <a:p>
            <a:r>
              <a:rPr lang="en-US" dirty="0"/>
              <a:t>Week of 04/26</a:t>
            </a:r>
          </a:p>
        </p:txBody>
      </p:sp>
      <p:sp>
        <p:nvSpPr>
          <p:cNvPr id="5" name="Subtitle 4">
            <a:extLst>
              <a:ext uri="{FF2B5EF4-FFF2-40B4-BE49-F238E27FC236}">
                <a16:creationId xmlns:a16="http://schemas.microsoft.com/office/drawing/2014/main" id="{13962E6F-AA92-ADB4-37B4-312D99754D11}"/>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942559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7" name="Rectangle 2056">
            <a:extLst>
              <a:ext uri="{FF2B5EF4-FFF2-40B4-BE49-F238E27FC236}">
                <a16:creationId xmlns:a16="http://schemas.microsoft.com/office/drawing/2014/main" id="{99ED5833-B85B-4103-8A3B-CAB0308E6C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64A31EF-F7B2-8FC1-20BC-CED685E050BF}"/>
              </a:ext>
            </a:extLst>
          </p:cNvPr>
          <p:cNvSpPr>
            <a:spLocks noGrp="1"/>
          </p:cNvSpPr>
          <p:nvPr>
            <p:ph type="title"/>
          </p:nvPr>
        </p:nvSpPr>
        <p:spPr>
          <a:xfrm>
            <a:off x="838200" y="365125"/>
            <a:ext cx="10515600" cy="1860400"/>
          </a:xfrm>
        </p:spPr>
        <p:txBody>
          <a:bodyPr vert="horz" lIns="91440" tIns="45720" rIns="91440" bIns="45720" rtlCol="0" anchor="ctr">
            <a:normAutofit/>
          </a:bodyPr>
          <a:lstStyle/>
          <a:p>
            <a:r>
              <a:rPr lang="en-US" sz="5200" kern="1200" dirty="0">
                <a:solidFill>
                  <a:schemeClr val="tx1"/>
                </a:solidFill>
                <a:latin typeface="+mj-lt"/>
                <a:ea typeface="+mj-ea"/>
                <a:cs typeface="+mj-cs"/>
              </a:rPr>
              <a:t>Selecting Appropriate top-k Value</a:t>
            </a:r>
          </a:p>
        </p:txBody>
      </p:sp>
      <p:pic>
        <p:nvPicPr>
          <p:cNvPr id="2052" name="Picture 4">
            <a:extLst>
              <a:ext uri="{FF2B5EF4-FFF2-40B4-BE49-F238E27FC236}">
                <a16:creationId xmlns:a16="http://schemas.microsoft.com/office/drawing/2014/main" id="{1FB51AA2-CE12-5A60-423A-C8D76D3D952F}"/>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81234" y="2877597"/>
            <a:ext cx="5828261" cy="2914131"/>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a:extLst>
              <a:ext uri="{FF2B5EF4-FFF2-40B4-BE49-F238E27FC236}">
                <a16:creationId xmlns:a16="http://schemas.microsoft.com/office/drawing/2014/main" id="{0FC7C58E-5F61-126D-D60F-7A648B33FB0A}"/>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bwMode="auto">
          <a:xfrm>
            <a:off x="6182505" y="2877597"/>
            <a:ext cx="5828261" cy="2914131"/>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BB5B7808-B8E8-1649-56C6-8B8C47A4B594}"/>
              </a:ext>
            </a:extLst>
          </p:cNvPr>
          <p:cNvSpPr txBox="1"/>
          <p:nvPr/>
        </p:nvSpPr>
        <p:spPr>
          <a:xfrm>
            <a:off x="4989953" y="6140198"/>
            <a:ext cx="2039084" cy="369332"/>
          </a:xfrm>
          <a:prstGeom prst="rect">
            <a:avLst/>
          </a:prstGeom>
          <a:noFill/>
        </p:spPr>
        <p:txBody>
          <a:bodyPr wrap="none" rtlCol="0">
            <a:spAutoFit/>
          </a:bodyPr>
          <a:lstStyle/>
          <a:p>
            <a:r>
              <a:rPr lang="en-US" dirty="0"/>
              <a:t>Final selection k=6</a:t>
            </a:r>
          </a:p>
        </p:txBody>
      </p:sp>
      <p:sp>
        <p:nvSpPr>
          <p:cNvPr id="3" name="TextBox 2">
            <a:extLst>
              <a:ext uri="{FF2B5EF4-FFF2-40B4-BE49-F238E27FC236}">
                <a16:creationId xmlns:a16="http://schemas.microsoft.com/office/drawing/2014/main" id="{C0398E33-3C4E-8E60-AC95-8F808449677A}"/>
              </a:ext>
            </a:extLst>
          </p:cNvPr>
          <p:cNvSpPr txBox="1"/>
          <p:nvPr/>
        </p:nvSpPr>
        <p:spPr>
          <a:xfrm>
            <a:off x="838200" y="1733866"/>
            <a:ext cx="9674508" cy="923330"/>
          </a:xfrm>
          <a:prstGeom prst="rect">
            <a:avLst/>
          </a:prstGeom>
          <a:noFill/>
        </p:spPr>
        <p:txBody>
          <a:bodyPr wrap="none" rtlCol="0">
            <a:spAutoFit/>
          </a:bodyPr>
          <a:lstStyle/>
          <a:p>
            <a:r>
              <a:rPr lang="en-US" dirty="0"/>
              <a:t>Plot the quality score of answer vs k value</a:t>
            </a:r>
          </a:p>
          <a:p>
            <a:r>
              <a:rPr lang="en-US" dirty="0"/>
              <a:t>How relevant answer is to k value</a:t>
            </a:r>
          </a:p>
          <a:p>
            <a:r>
              <a:rPr lang="en-US" dirty="0"/>
              <a:t>Metric that evaluates the quality of answer (truthfulness, readability, Groundedness, uncertainty)</a:t>
            </a:r>
          </a:p>
        </p:txBody>
      </p:sp>
    </p:spTree>
    <p:extLst>
      <p:ext uri="{BB962C8B-B14F-4D97-AF65-F5344CB8AC3E}">
        <p14:creationId xmlns:p14="http://schemas.microsoft.com/office/powerpoint/2010/main" val="37909837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17A18-3BEF-2151-4650-86ECEADABA62}"/>
              </a:ext>
            </a:extLst>
          </p:cNvPr>
          <p:cNvSpPr>
            <a:spLocks noGrp="1"/>
          </p:cNvSpPr>
          <p:nvPr>
            <p:ph type="title"/>
          </p:nvPr>
        </p:nvSpPr>
        <p:spPr/>
        <p:txBody>
          <a:bodyPr/>
          <a:lstStyle/>
          <a:p>
            <a:r>
              <a:rPr lang="en-US" dirty="0"/>
              <a:t>Result with </a:t>
            </a:r>
            <a:r>
              <a:rPr lang="en-US" dirty="0" err="1"/>
              <a:t>bge</a:t>
            </a:r>
            <a:r>
              <a:rPr lang="en-US" dirty="0"/>
              <a:t> </a:t>
            </a:r>
            <a:r>
              <a:rPr lang="en-US" dirty="0" err="1"/>
              <a:t>small+gpt</a:t>
            </a:r>
            <a:r>
              <a:rPr lang="en-US" dirty="0"/>
              <a:t> </a:t>
            </a:r>
            <a:r>
              <a:rPr lang="en-US" dirty="0" err="1"/>
              <a:t>oss</a:t>
            </a:r>
            <a:endParaRPr lang="en-US" dirty="0"/>
          </a:p>
        </p:txBody>
      </p:sp>
      <p:pic>
        <p:nvPicPr>
          <p:cNvPr id="4" name="Content Placeholder 3">
            <a:extLst>
              <a:ext uri="{FF2B5EF4-FFF2-40B4-BE49-F238E27FC236}">
                <a16:creationId xmlns:a16="http://schemas.microsoft.com/office/drawing/2014/main" id="{65ACA8E5-5E39-99AC-C24E-88652E253D3B}"/>
              </a:ext>
            </a:extLst>
          </p:cNvPr>
          <p:cNvPicPr>
            <a:picLocks noGrp="1" noChangeAspect="1"/>
          </p:cNvPicPr>
          <p:nvPr>
            <p:ph idx="1"/>
          </p:nvPr>
        </p:nvPicPr>
        <p:blipFill>
          <a:blip r:embed="rId2"/>
          <a:stretch>
            <a:fillRect/>
          </a:stretch>
        </p:blipFill>
        <p:spPr>
          <a:xfrm>
            <a:off x="572344" y="1860795"/>
            <a:ext cx="4716850" cy="4351338"/>
          </a:xfrm>
          <a:prstGeom prst="rect">
            <a:avLst/>
          </a:prstGeom>
        </p:spPr>
      </p:pic>
      <p:graphicFrame>
        <p:nvGraphicFramePr>
          <p:cNvPr id="5" name="Table 4">
            <a:extLst>
              <a:ext uri="{FF2B5EF4-FFF2-40B4-BE49-F238E27FC236}">
                <a16:creationId xmlns:a16="http://schemas.microsoft.com/office/drawing/2014/main" id="{7B174C4F-D9A8-8A5E-2D36-3A3CD03B20F4}"/>
              </a:ext>
            </a:extLst>
          </p:cNvPr>
          <p:cNvGraphicFramePr>
            <a:graphicFrameLocks noGrp="1"/>
          </p:cNvGraphicFramePr>
          <p:nvPr>
            <p:extLst>
              <p:ext uri="{D42A27DB-BD31-4B8C-83A1-F6EECF244321}">
                <p14:modId xmlns:p14="http://schemas.microsoft.com/office/powerpoint/2010/main" val="375140293"/>
              </p:ext>
            </p:extLst>
          </p:nvPr>
        </p:nvGraphicFramePr>
        <p:xfrm>
          <a:off x="5556758" y="1562121"/>
          <a:ext cx="6109790" cy="5183705"/>
        </p:xfrm>
        <a:graphic>
          <a:graphicData uri="http://schemas.openxmlformats.org/drawingml/2006/table">
            <a:tbl>
              <a:tblPr/>
              <a:tblGrid>
                <a:gridCol w="1115759">
                  <a:extLst>
                    <a:ext uri="{9D8B030D-6E8A-4147-A177-3AD203B41FA5}">
                      <a16:colId xmlns:a16="http://schemas.microsoft.com/office/drawing/2014/main" val="2765630544"/>
                    </a:ext>
                  </a:extLst>
                </a:gridCol>
                <a:gridCol w="1213338">
                  <a:extLst>
                    <a:ext uri="{9D8B030D-6E8A-4147-A177-3AD203B41FA5}">
                      <a16:colId xmlns:a16="http://schemas.microsoft.com/office/drawing/2014/main" val="1476004073"/>
                    </a:ext>
                  </a:extLst>
                </a:gridCol>
                <a:gridCol w="1019908">
                  <a:extLst>
                    <a:ext uri="{9D8B030D-6E8A-4147-A177-3AD203B41FA5}">
                      <a16:colId xmlns:a16="http://schemas.microsoft.com/office/drawing/2014/main" val="3086000927"/>
                    </a:ext>
                  </a:extLst>
                </a:gridCol>
                <a:gridCol w="1222131">
                  <a:extLst>
                    <a:ext uri="{9D8B030D-6E8A-4147-A177-3AD203B41FA5}">
                      <a16:colId xmlns:a16="http://schemas.microsoft.com/office/drawing/2014/main" val="2147534824"/>
                    </a:ext>
                  </a:extLst>
                </a:gridCol>
                <a:gridCol w="1538654">
                  <a:extLst>
                    <a:ext uri="{9D8B030D-6E8A-4147-A177-3AD203B41FA5}">
                      <a16:colId xmlns:a16="http://schemas.microsoft.com/office/drawing/2014/main" val="2873701718"/>
                    </a:ext>
                  </a:extLst>
                </a:gridCol>
              </a:tblGrid>
              <a:tr h="393881">
                <a:tc>
                  <a:txBody>
                    <a:bodyPr/>
                    <a:lstStyle/>
                    <a:p>
                      <a:pPr>
                        <a:buNone/>
                      </a:pPr>
                      <a:r>
                        <a:rPr lang="en-US" sz="1200" b="1" dirty="0"/>
                        <a:t>Method</a:t>
                      </a:r>
                    </a:p>
                  </a:txBody>
                  <a:tcPr marL="60435" marR="60435" marT="30218" marB="302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200" b="1" dirty="0"/>
                        <a:t>Same-scope</a:t>
                      </a:r>
                    </a:p>
                  </a:txBody>
                  <a:tcPr marL="60435" marR="60435" marT="30218" marB="302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200" b="1" dirty="0"/>
                        <a:t>Answer similarity</a:t>
                      </a:r>
                    </a:p>
                  </a:txBody>
                  <a:tcPr marL="60435" marR="60435" marT="30218" marB="302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200" b="1" dirty="0"/>
                        <a:t>Abstention</a:t>
                      </a:r>
                    </a:p>
                  </a:txBody>
                  <a:tcPr marL="60435" marR="60435" marT="30218" marB="302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b="1" dirty="0"/>
                        <a:t>Insight</a:t>
                      </a:r>
                    </a:p>
                  </a:txBody>
                  <a:tcPr marL="60435" marR="60435" marT="30218" marB="302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89024077"/>
                  </a:ext>
                </a:extLst>
              </a:tr>
              <a:tr h="731908">
                <a:tc>
                  <a:txBody>
                    <a:bodyPr/>
                    <a:lstStyle/>
                    <a:p>
                      <a:pPr>
                        <a:buNone/>
                      </a:pPr>
                      <a:r>
                        <a:rPr lang="en-US" sz="1200" dirty="0"/>
                        <a:t>Exact keyword match</a:t>
                      </a:r>
                    </a:p>
                  </a:txBody>
                  <a:tcPr marL="60435" marR="60435" marT="30218" marB="302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200" dirty="0"/>
                        <a:t>0.835</a:t>
                      </a:r>
                    </a:p>
                  </a:txBody>
                  <a:tcPr marL="60435" marR="60435" marT="30218" marB="302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200" dirty="0"/>
                        <a:t>0.557</a:t>
                      </a:r>
                    </a:p>
                  </a:txBody>
                  <a:tcPr marL="60435" marR="60435" marT="30218" marB="302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200" dirty="0"/>
                        <a:t>0.680</a:t>
                      </a:r>
                    </a:p>
                  </a:txBody>
                  <a:tcPr marL="60435" marR="60435" marT="30218" marB="302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dirty="0"/>
                        <a:t>Precise when exact documents exists, but often fails/abstains</a:t>
                      </a:r>
                    </a:p>
                  </a:txBody>
                  <a:tcPr marL="60435" marR="60435" marT="30218" marB="302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32551508"/>
                  </a:ext>
                </a:extLst>
              </a:tr>
              <a:tr h="893646">
                <a:tc>
                  <a:txBody>
                    <a:bodyPr/>
                    <a:lstStyle/>
                    <a:p>
                      <a:pPr>
                        <a:buNone/>
                      </a:pPr>
                      <a:r>
                        <a:rPr lang="en-US" sz="1200"/>
                        <a:t>Similarity-only</a:t>
                      </a:r>
                    </a:p>
                  </a:txBody>
                  <a:tcPr marL="60435" marR="60435" marT="30218" marB="302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200"/>
                        <a:t>0.518</a:t>
                      </a:r>
                    </a:p>
                  </a:txBody>
                  <a:tcPr marL="60435" marR="60435" marT="30218" marB="302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200"/>
                        <a:t>0.586</a:t>
                      </a:r>
                    </a:p>
                  </a:txBody>
                  <a:tcPr marL="60435" marR="60435" marT="30218" marB="302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200"/>
                        <a:t>0.605</a:t>
                      </a:r>
                    </a:p>
                  </a:txBody>
                  <a:tcPr marL="60435" marR="60435" marT="30218" marB="302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dirty="0"/>
                        <a:t>Strong answer quality, but weakest geographic reliability</a:t>
                      </a:r>
                    </a:p>
                  </a:txBody>
                  <a:tcPr marL="60435" marR="60435" marT="30218" marB="302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15568134"/>
                  </a:ext>
                </a:extLst>
              </a:tr>
              <a:tr h="558528">
                <a:tc>
                  <a:txBody>
                    <a:bodyPr/>
                    <a:lstStyle/>
                    <a:p>
                      <a:pPr>
                        <a:buNone/>
                      </a:pPr>
                      <a:r>
                        <a:rPr lang="en-US" sz="1200"/>
                        <a:t>Granularity-only</a:t>
                      </a:r>
                    </a:p>
                  </a:txBody>
                  <a:tcPr marL="60435" marR="60435" marT="30218" marB="302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200"/>
                        <a:t>0.559</a:t>
                      </a:r>
                    </a:p>
                  </a:txBody>
                  <a:tcPr marL="60435" marR="60435" marT="30218" marB="302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200"/>
                        <a:t>0.566</a:t>
                      </a:r>
                    </a:p>
                  </a:txBody>
                  <a:tcPr marL="60435" marR="60435" marT="30218" marB="302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200"/>
                        <a:t>0.659</a:t>
                      </a:r>
                    </a:p>
                  </a:txBody>
                  <a:tcPr marL="60435" marR="60435" marT="30218" marB="302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Matching level alone helps only slightly</a:t>
                      </a:r>
                    </a:p>
                  </a:txBody>
                  <a:tcPr marL="60435" marR="60435" marT="30218" marB="302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35970872"/>
                  </a:ext>
                </a:extLst>
              </a:tr>
              <a:tr h="726087">
                <a:tc>
                  <a:txBody>
                    <a:bodyPr/>
                    <a:lstStyle/>
                    <a:p>
                      <a:pPr>
                        <a:buNone/>
                      </a:pPr>
                      <a:r>
                        <a:rPr lang="en-US" sz="1200"/>
                        <a:t>Graph match</a:t>
                      </a:r>
                    </a:p>
                  </a:txBody>
                  <a:tcPr marL="60435" marR="60435" marT="30218" marB="302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200"/>
                        <a:t>0.873</a:t>
                      </a:r>
                    </a:p>
                  </a:txBody>
                  <a:tcPr marL="60435" marR="60435" marT="30218" marB="302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200"/>
                        <a:t>0.551</a:t>
                      </a:r>
                    </a:p>
                  </a:txBody>
                  <a:tcPr marL="60435" marR="60435" marT="30218" marB="302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200"/>
                        <a:t>0.687</a:t>
                      </a:r>
                    </a:p>
                  </a:txBody>
                  <a:tcPr marL="60435" marR="60435" marT="30218" marB="302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Strongest geographic safety, but sacrifices answer quality</a:t>
                      </a:r>
                    </a:p>
                  </a:txBody>
                  <a:tcPr marL="60435" marR="60435" marT="30218" marB="302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41927110"/>
                  </a:ext>
                </a:extLst>
              </a:tr>
              <a:tr h="893646">
                <a:tc>
                  <a:txBody>
                    <a:bodyPr/>
                    <a:lstStyle/>
                    <a:p>
                      <a:pPr>
                        <a:buNone/>
                      </a:pPr>
                      <a:r>
                        <a:rPr lang="en-US" sz="1200" dirty="0"/>
                        <a:t>Full geo-first</a:t>
                      </a:r>
                    </a:p>
                  </a:txBody>
                  <a:tcPr marL="60435" marR="60435" marT="30218" marB="302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200" dirty="0"/>
                        <a:t>0.615</a:t>
                      </a:r>
                    </a:p>
                  </a:txBody>
                  <a:tcPr marL="60435" marR="60435" marT="30218" marB="302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200" dirty="0"/>
                        <a:t>0.563</a:t>
                      </a:r>
                    </a:p>
                  </a:txBody>
                  <a:tcPr marL="60435" marR="60435" marT="30218" marB="302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200" dirty="0"/>
                        <a:t>0.663</a:t>
                      </a:r>
                    </a:p>
                  </a:txBody>
                  <a:tcPr marL="60435" marR="60435" marT="30218" marB="302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dirty="0"/>
                        <a:t>Best balance between geographic reliability and usable answers</a:t>
                      </a:r>
                    </a:p>
                  </a:txBody>
                  <a:tcPr marL="60435" marR="60435" marT="30218" marB="302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82157626"/>
                  </a:ext>
                </a:extLst>
              </a:tr>
              <a:tr h="893646">
                <a:tc>
                  <a:txBody>
                    <a:bodyPr/>
                    <a:lstStyle/>
                    <a:p>
                      <a:pPr>
                        <a:buNone/>
                      </a:pPr>
                      <a:r>
                        <a:rPr lang="en-US" sz="1200" dirty="0"/>
                        <a:t>Normal Cross Encoder</a:t>
                      </a:r>
                    </a:p>
                  </a:txBody>
                  <a:tcPr marL="60435" marR="60435" marT="30218" marB="302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200" dirty="0"/>
                        <a:t>Currently running</a:t>
                      </a:r>
                    </a:p>
                  </a:txBody>
                  <a:tcPr marL="60435" marR="60435" marT="30218" marB="302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endParaRPr lang="en-US" sz="1200"/>
                    </a:p>
                  </a:txBody>
                  <a:tcPr marL="60435" marR="60435" marT="30218" marB="302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endParaRPr lang="en-US" sz="1200"/>
                    </a:p>
                  </a:txBody>
                  <a:tcPr marL="60435" marR="60435" marT="30218" marB="302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endParaRPr lang="en-US" sz="1200" dirty="0"/>
                    </a:p>
                  </a:txBody>
                  <a:tcPr marL="60435" marR="60435" marT="30218" marB="302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44528020"/>
                  </a:ext>
                </a:extLst>
              </a:tr>
            </a:tbl>
          </a:graphicData>
        </a:graphic>
      </p:graphicFrame>
    </p:spTree>
    <p:extLst>
      <p:ext uri="{BB962C8B-B14F-4D97-AF65-F5344CB8AC3E}">
        <p14:creationId xmlns:p14="http://schemas.microsoft.com/office/powerpoint/2010/main" val="12460328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9221AF-4D18-51BE-A53F-7A69B7198B5E}"/>
              </a:ext>
            </a:extLst>
          </p:cNvPr>
          <p:cNvSpPr>
            <a:spLocks noGrp="1"/>
          </p:cNvSpPr>
          <p:nvPr>
            <p:ph type="title"/>
          </p:nvPr>
        </p:nvSpPr>
        <p:spPr>
          <a:xfrm>
            <a:off x="838199" y="160588"/>
            <a:ext cx="10515600" cy="1325563"/>
          </a:xfrm>
        </p:spPr>
        <p:txBody>
          <a:bodyPr>
            <a:noAutofit/>
          </a:bodyPr>
          <a:lstStyle/>
          <a:p>
            <a:r>
              <a:rPr lang="en-US" sz="2400" dirty="0"/>
              <a:t>LLM as a judge metrics </a:t>
            </a:r>
            <a:br>
              <a:rPr lang="en-US" sz="2400" dirty="0"/>
            </a:br>
            <a:r>
              <a:rPr lang="en-US" sz="2400" dirty="0"/>
              <a:t>For each question, I ask to pick one and give reason</a:t>
            </a:r>
            <a:br>
              <a:rPr lang="en-US" sz="2400" dirty="0"/>
            </a:br>
            <a:r>
              <a:rPr lang="en-US" sz="2400" dirty="0"/>
              <a:t>Using </a:t>
            </a:r>
            <a:r>
              <a:rPr lang="en-US" sz="2400" dirty="0" err="1"/>
              <a:t>nemotron</a:t>
            </a:r>
            <a:r>
              <a:rPr lang="en-US" sz="2400" dirty="0"/>
              <a:t>—3-super</a:t>
            </a:r>
          </a:p>
        </p:txBody>
      </p:sp>
      <p:graphicFrame>
        <p:nvGraphicFramePr>
          <p:cNvPr id="4" name="Content Placeholder 3">
            <a:extLst>
              <a:ext uri="{FF2B5EF4-FFF2-40B4-BE49-F238E27FC236}">
                <a16:creationId xmlns:a16="http://schemas.microsoft.com/office/drawing/2014/main" id="{AD10660D-349E-2F4E-F5FF-F387808C5331}"/>
              </a:ext>
            </a:extLst>
          </p:cNvPr>
          <p:cNvGraphicFramePr>
            <a:graphicFrameLocks noGrp="1"/>
          </p:cNvGraphicFramePr>
          <p:nvPr>
            <p:ph idx="1"/>
            <p:extLst>
              <p:ext uri="{D42A27DB-BD31-4B8C-83A1-F6EECF244321}">
                <p14:modId xmlns:p14="http://schemas.microsoft.com/office/powerpoint/2010/main" val="4213396221"/>
              </p:ext>
            </p:extLst>
          </p:nvPr>
        </p:nvGraphicFramePr>
        <p:xfrm>
          <a:off x="443053" y="1690688"/>
          <a:ext cx="11247120" cy="4828465"/>
        </p:xfrm>
        <a:graphic>
          <a:graphicData uri="http://schemas.openxmlformats.org/drawingml/2006/table">
            <a:tbl>
              <a:tblPr>
                <a:tableStyleId>{B301B821-A1FF-4177-AEE7-76D212191A09}</a:tableStyleId>
              </a:tblPr>
              <a:tblGrid>
                <a:gridCol w="444958">
                  <a:extLst>
                    <a:ext uri="{9D8B030D-6E8A-4147-A177-3AD203B41FA5}">
                      <a16:colId xmlns:a16="http://schemas.microsoft.com/office/drawing/2014/main" val="1638613251"/>
                    </a:ext>
                  </a:extLst>
                </a:gridCol>
                <a:gridCol w="2178364">
                  <a:extLst>
                    <a:ext uri="{9D8B030D-6E8A-4147-A177-3AD203B41FA5}">
                      <a16:colId xmlns:a16="http://schemas.microsoft.com/office/drawing/2014/main" val="4032699457"/>
                    </a:ext>
                  </a:extLst>
                </a:gridCol>
                <a:gridCol w="8623798">
                  <a:extLst>
                    <a:ext uri="{9D8B030D-6E8A-4147-A177-3AD203B41FA5}">
                      <a16:colId xmlns:a16="http://schemas.microsoft.com/office/drawing/2014/main" val="1021534724"/>
                    </a:ext>
                  </a:extLst>
                </a:gridCol>
              </a:tblGrid>
              <a:tr h="179729">
                <a:tc>
                  <a:txBody>
                    <a:bodyPr/>
                    <a:lstStyle/>
                    <a:p>
                      <a:pPr rtl="0">
                        <a:buNone/>
                      </a:pPr>
                      <a:endParaRPr lang="en-US" sz="1400" dirty="0">
                        <a:solidFill>
                          <a:srgbClr val="1F1F1F"/>
                        </a:solidFill>
                        <a:effectLst/>
                        <a:latin typeface="Google Sans Text"/>
                      </a:endParaRPr>
                    </a:p>
                  </a:txBody>
                  <a:tcPr marL="28378" marR="35473" marT="47297" marB="47297" anchor="ctr"/>
                </a:tc>
                <a:tc>
                  <a:txBody>
                    <a:bodyPr/>
                    <a:lstStyle/>
                    <a:p>
                      <a:pPr rtl="0">
                        <a:buNone/>
                      </a:pPr>
                      <a:r>
                        <a:rPr lang="en-US" sz="1400" b="1" dirty="0">
                          <a:solidFill>
                            <a:srgbClr val="1F1F1F"/>
                          </a:solidFill>
                          <a:effectLst/>
                        </a:rPr>
                        <a:t>Metric</a:t>
                      </a:r>
                      <a:endParaRPr lang="en-US" sz="1400" dirty="0">
                        <a:solidFill>
                          <a:srgbClr val="1F1F1F"/>
                        </a:solidFill>
                        <a:effectLst/>
                        <a:latin typeface="Google Sans Text"/>
                      </a:endParaRPr>
                    </a:p>
                  </a:txBody>
                  <a:tcPr marL="28378" marR="35473" marT="47297" marB="47297" anchor="ctr"/>
                </a:tc>
                <a:tc>
                  <a:txBody>
                    <a:bodyPr/>
                    <a:lstStyle/>
                    <a:p>
                      <a:pPr rtl="0">
                        <a:buNone/>
                      </a:pPr>
                      <a:r>
                        <a:rPr lang="en-US" sz="1400" b="1" dirty="0">
                          <a:solidFill>
                            <a:srgbClr val="1F1F1F"/>
                          </a:solidFill>
                          <a:effectLst/>
                        </a:rPr>
                        <a:t>Definition</a:t>
                      </a:r>
                      <a:endParaRPr lang="en-US" sz="1400" dirty="0">
                        <a:solidFill>
                          <a:srgbClr val="1F1F1F"/>
                        </a:solidFill>
                        <a:effectLst/>
                        <a:latin typeface="Google Sans Text"/>
                      </a:endParaRPr>
                    </a:p>
                  </a:txBody>
                  <a:tcPr marL="28378" marR="28378" marT="47297" marB="47297" anchor="ctr"/>
                </a:tc>
                <a:extLst>
                  <a:ext uri="{0D108BD9-81ED-4DB2-BD59-A6C34878D82A}">
                    <a16:rowId xmlns:a16="http://schemas.microsoft.com/office/drawing/2014/main" val="3979765127"/>
                  </a:ext>
                </a:extLst>
              </a:tr>
              <a:tr h="520269">
                <a:tc>
                  <a:txBody>
                    <a:bodyPr/>
                    <a:lstStyle/>
                    <a:p>
                      <a:pPr rtl="0">
                        <a:buNone/>
                      </a:pPr>
                      <a:r>
                        <a:rPr lang="en-US" sz="1400" dirty="0">
                          <a:solidFill>
                            <a:srgbClr val="1F1F1F"/>
                          </a:solidFill>
                          <a:effectLst/>
                          <a:latin typeface="Google Sans Text"/>
                        </a:rPr>
                        <a:t>1</a:t>
                      </a:r>
                    </a:p>
                  </a:txBody>
                  <a:tcPr marL="28378" marR="35473" marT="47297" marB="47297" anchor="ctr"/>
                </a:tc>
                <a:tc>
                  <a:txBody>
                    <a:bodyPr/>
                    <a:lstStyle/>
                    <a:p>
                      <a:pPr rtl="0">
                        <a:buNone/>
                      </a:pPr>
                      <a:r>
                        <a:rPr lang="en-US" sz="1400" b="1" dirty="0">
                          <a:solidFill>
                            <a:srgbClr val="1F1F1F"/>
                          </a:solidFill>
                          <a:effectLst/>
                        </a:rPr>
                        <a:t>Accurate Decision Rate</a:t>
                      </a:r>
                      <a:endParaRPr lang="en-US" sz="1400" dirty="0">
                        <a:solidFill>
                          <a:srgbClr val="1F1F1F"/>
                        </a:solidFill>
                        <a:effectLst/>
                        <a:latin typeface="Google Sans Text"/>
                      </a:endParaRPr>
                    </a:p>
                  </a:txBody>
                  <a:tcPr marL="28378" marR="35473" marT="47297" marB="47297" anchor="ctr">
                    <a:lnR w="12700" cap="flat" cmpd="sng" algn="ctr">
                      <a:solidFill>
                        <a:schemeClr val="tx1"/>
                      </a:solidFill>
                      <a:prstDash val="solid"/>
                      <a:round/>
                      <a:headEnd type="none" w="med" len="med"/>
                      <a:tailEnd type="none" w="med" len="med"/>
                    </a:lnR>
                  </a:tcPr>
                </a:tc>
                <a:tc>
                  <a:txBody>
                    <a:bodyPr/>
                    <a:lstStyle/>
                    <a:p>
                      <a:pPr lvl="0" rtl="0">
                        <a:buNone/>
                      </a:pPr>
                      <a:r>
                        <a:rPr lang="en-US" sz="1400" b="1" dirty="0">
                          <a:solidFill>
                            <a:srgbClr val="1F1F1F"/>
                          </a:solidFill>
                          <a:effectLst/>
                        </a:rPr>
                        <a:t>Measures Reliability:</a:t>
                      </a:r>
                      <a:r>
                        <a:rPr lang="en-US" sz="1400" dirty="0">
                          <a:solidFill>
                            <a:srgbClr val="1F1F1F"/>
                          </a:solidFill>
                          <a:effectLst/>
                        </a:rPr>
                        <a:t> The ratio of queries where the system either provided a correct answer or accurately signaled its own limitations.</a:t>
                      </a:r>
                      <a:endParaRPr lang="en-US" sz="1400" dirty="0">
                        <a:solidFill>
                          <a:srgbClr val="1F1F1F"/>
                        </a:solidFill>
                        <a:effectLst/>
                        <a:latin typeface="Google Sans Text"/>
                      </a:endParaRPr>
                    </a:p>
                  </a:txBody>
                  <a:tcPr marL="28378" marR="28378" marT="47297" marB="47297"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025397669"/>
                  </a:ext>
                </a:extLst>
              </a:tr>
              <a:tr h="520269">
                <a:tc>
                  <a:txBody>
                    <a:bodyPr/>
                    <a:lstStyle/>
                    <a:p>
                      <a:pPr rtl="0">
                        <a:buNone/>
                      </a:pPr>
                      <a:r>
                        <a:rPr lang="en-US" sz="1400" dirty="0">
                          <a:solidFill>
                            <a:srgbClr val="1F1F1F"/>
                          </a:solidFill>
                          <a:effectLst/>
                          <a:latin typeface="Google Sans Text"/>
                        </a:rPr>
                        <a:t>2</a:t>
                      </a:r>
                    </a:p>
                  </a:txBody>
                  <a:tcPr marL="28378" marR="35473" marT="47297" marB="47297" anchor="ctr"/>
                </a:tc>
                <a:tc>
                  <a:txBody>
                    <a:bodyPr/>
                    <a:lstStyle/>
                    <a:p>
                      <a:pPr rtl="0">
                        <a:buNone/>
                      </a:pPr>
                      <a:r>
                        <a:rPr lang="en-US" sz="1400" b="1" dirty="0">
                          <a:solidFill>
                            <a:srgbClr val="1F1F1F"/>
                          </a:solidFill>
                          <a:effectLst/>
                        </a:rPr>
                        <a:t>Coverage/Attempt rate</a:t>
                      </a:r>
                      <a:endParaRPr lang="en-US" sz="1400" dirty="0">
                        <a:solidFill>
                          <a:srgbClr val="1F1F1F"/>
                        </a:solidFill>
                        <a:effectLst/>
                        <a:latin typeface="Google Sans Text"/>
                      </a:endParaRPr>
                    </a:p>
                  </a:txBody>
                  <a:tcPr marL="28378" marR="35473" marT="47297" marB="47297" anchor="ctr">
                    <a:lnR w="12700" cap="flat" cmpd="sng" algn="ctr">
                      <a:solidFill>
                        <a:schemeClr val="tx1"/>
                      </a:solidFill>
                      <a:prstDash val="solid"/>
                      <a:round/>
                      <a:headEnd type="none" w="med" len="med"/>
                      <a:tailEnd type="none" w="med" len="med"/>
                    </a:lnR>
                  </a:tcPr>
                </a:tc>
                <a:tc>
                  <a:txBody>
                    <a:bodyPr/>
                    <a:lstStyle/>
                    <a:p>
                      <a:pPr lvl="0" rtl="0">
                        <a:buNone/>
                      </a:pPr>
                      <a:r>
                        <a:rPr lang="en-US" sz="1400" dirty="0">
                          <a:solidFill>
                            <a:srgbClr val="1F1F1F"/>
                          </a:solidFill>
                          <a:effectLst/>
                        </a:rPr>
                        <a:t>The percentage of queries where the system attempted a factual answer. High coverage means lower abstention rate.</a:t>
                      </a:r>
                      <a:endParaRPr lang="en-US" sz="1400" dirty="0">
                        <a:solidFill>
                          <a:srgbClr val="1F1F1F"/>
                        </a:solidFill>
                        <a:effectLst/>
                        <a:latin typeface="Google Sans Text"/>
                      </a:endParaRPr>
                    </a:p>
                  </a:txBody>
                  <a:tcPr marL="28378" marR="28378" marT="47297" marB="47297"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059103303"/>
                  </a:ext>
                </a:extLst>
              </a:tr>
              <a:tr h="349999">
                <a:tc>
                  <a:txBody>
                    <a:bodyPr/>
                    <a:lstStyle/>
                    <a:p>
                      <a:pPr rtl="0">
                        <a:buNone/>
                      </a:pPr>
                      <a:r>
                        <a:rPr lang="en-US" sz="1400" dirty="0">
                          <a:solidFill>
                            <a:srgbClr val="1F1F1F"/>
                          </a:solidFill>
                          <a:effectLst/>
                          <a:latin typeface="Google Sans Text"/>
                        </a:rPr>
                        <a:t>3</a:t>
                      </a:r>
                    </a:p>
                  </a:txBody>
                  <a:tcPr marL="28378" marR="35473" marT="47297" marB="47297" anchor="ctr"/>
                </a:tc>
                <a:tc>
                  <a:txBody>
                    <a:bodyPr/>
                    <a:lstStyle/>
                    <a:p>
                      <a:pPr rtl="0">
                        <a:buNone/>
                      </a:pPr>
                      <a:r>
                        <a:rPr lang="en-US" sz="1400" b="1" dirty="0">
                          <a:solidFill>
                            <a:srgbClr val="1F1F1F"/>
                          </a:solidFill>
                          <a:effectLst/>
                        </a:rPr>
                        <a:t>Supported Answer</a:t>
                      </a:r>
                      <a:endParaRPr lang="en-US" sz="1400" dirty="0">
                        <a:solidFill>
                          <a:srgbClr val="1F1F1F"/>
                        </a:solidFill>
                        <a:effectLst/>
                        <a:latin typeface="Google Sans Text"/>
                      </a:endParaRPr>
                    </a:p>
                  </a:txBody>
                  <a:tcPr marL="28378" marR="35473" marT="47297" marB="47297" anchor="ctr">
                    <a:lnR w="12700" cap="flat" cmpd="sng" algn="ctr">
                      <a:solidFill>
                        <a:schemeClr val="tx1"/>
                      </a:solidFill>
                      <a:prstDash val="solid"/>
                      <a:round/>
                      <a:headEnd type="none" w="med" len="med"/>
                      <a:tailEnd type="none" w="med" len="med"/>
                    </a:lnR>
                  </a:tcPr>
                </a:tc>
                <a:tc>
                  <a:txBody>
                    <a:bodyPr/>
                    <a:lstStyle/>
                    <a:p>
                      <a:pPr lvl="0" rtl="0">
                        <a:buNone/>
                      </a:pPr>
                      <a:r>
                        <a:rPr lang="en-US" sz="1400" b="1" dirty="0">
                          <a:solidFill>
                            <a:srgbClr val="1F1F1F"/>
                          </a:solidFill>
                          <a:effectLst/>
                        </a:rPr>
                        <a:t>Measures Accuracy:</a:t>
                      </a:r>
                      <a:r>
                        <a:rPr lang="en-US" sz="1400" dirty="0">
                          <a:solidFill>
                            <a:srgbClr val="1F1F1F"/>
                          </a:solidFill>
                          <a:effectLst/>
                        </a:rPr>
                        <a:t> The answer is factually correct and applies precisely to the requested jurisdiction.</a:t>
                      </a:r>
                      <a:endParaRPr lang="en-US" sz="1400" dirty="0">
                        <a:solidFill>
                          <a:srgbClr val="1F1F1F"/>
                        </a:solidFill>
                        <a:effectLst/>
                        <a:latin typeface="Google Sans Text"/>
                      </a:endParaRPr>
                    </a:p>
                  </a:txBody>
                  <a:tcPr marL="28378" marR="28378" marT="47297" marB="47297"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162932525"/>
                  </a:ext>
                </a:extLst>
              </a:tr>
              <a:tr h="520269">
                <a:tc>
                  <a:txBody>
                    <a:bodyPr/>
                    <a:lstStyle/>
                    <a:p>
                      <a:pPr rtl="0">
                        <a:buNone/>
                      </a:pPr>
                      <a:r>
                        <a:rPr lang="en-US" sz="1400" dirty="0">
                          <a:solidFill>
                            <a:srgbClr val="1F1F1F"/>
                          </a:solidFill>
                          <a:effectLst/>
                          <a:latin typeface="Google Sans Text"/>
                        </a:rPr>
                        <a:t>4</a:t>
                      </a:r>
                    </a:p>
                  </a:txBody>
                  <a:tcPr marL="28378" marR="35473" marT="47297" marB="47297" anchor="ctr"/>
                </a:tc>
                <a:tc>
                  <a:txBody>
                    <a:bodyPr/>
                    <a:lstStyle/>
                    <a:p>
                      <a:pPr rtl="0">
                        <a:buNone/>
                      </a:pPr>
                      <a:r>
                        <a:rPr lang="en-US" sz="1400" b="1" dirty="0">
                          <a:solidFill>
                            <a:srgbClr val="1F1F1F"/>
                          </a:solidFill>
                          <a:effectLst/>
                        </a:rPr>
                        <a:t>Wrong Confident</a:t>
                      </a:r>
                      <a:endParaRPr lang="en-US" sz="1400" dirty="0">
                        <a:solidFill>
                          <a:srgbClr val="1F1F1F"/>
                        </a:solidFill>
                        <a:effectLst/>
                        <a:latin typeface="Google Sans Text"/>
                      </a:endParaRPr>
                    </a:p>
                  </a:txBody>
                  <a:tcPr marL="28378" marR="35473" marT="47297" marB="47297" anchor="ctr">
                    <a:lnR w="12700" cap="flat" cmpd="sng" algn="ctr">
                      <a:solidFill>
                        <a:schemeClr val="tx1"/>
                      </a:solidFill>
                      <a:prstDash val="solid"/>
                      <a:round/>
                      <a:headEnd type="none" w="med" len="med"/>
                      <a:tailEnd type="none" w="med" len="med"/>
                    </a:lnR>
                  </a:tcPr>
                </a:tc>
                <a:tc>
                  <a:txBody>
                    <a:bodyPr/>
                    <a:lstStyle/>
                    <a:p>
                      <a:pPr lvl="0" rtl="0">
                        <a:buNone/>
                      </a:pPr>
                      <a:r>
                        <a:rPr lang="en-US" sz="1400" b="1" dirty="0">
                          <a:solidFill>
                            <a:srgbClr val="1F1F1F"/>
                          </a:solidFill>
                          <a:effectLst/>
                        </a:rPr>
                        <a:t>Measures Critical Failure:</a:t>
                      </a:r>
                      <a:r>
                        <a:rPr lang="en-US" sz="1400" dirty="0">
                          <a:solidFill>
                            <a:srgbClr val="1F1F1F"/>
                          </a:solidFill>
                          <a:effectLst/>
                        </a:rPr>
                        <a:t> The system provided a confident answer that was factually wrong or applied to a mismatched jurisdiction.</a:t>
                      </a:r>
                      <a:endParaRPr lang="en-US" sz="1400" dirty="0">
                        <a:solidFill>
                          <a:srgbClr val="1F1F1F"/>
                        </a:solidFill>
                        <a:effectLst/>
                        <a:latin typeface="Google Sans Text"/>
                      </a:endParaRPr>
                    </a:p>
                  </a:txBody>
                  <a:tcPr marL="28378" marR="28378" marT="47297" marB="47297"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889397370"/>
                  </a:ext>
                </a:extLst>
              </a:tr>
              <a:tr h="435134">
                <a:tc>
                  <a:txBody>
                    <a:bodyPr/>
                    <a:lstStyle/>
                    <a:p>
                      <a:pPr rtl="0">
                        <a:buNone/>
                      </a:pPr>
                      <a:r>
                        <a:rPr lang="en-US" sz="1400" dirty="0">
                          <a:solidFill>
                            <a:srgbClr val="1F1F1F"/>
                          </a:solidFill>
                          <a:effectLst/>
                          <a:latin typeface="Google Sans Text"/>
                        </a:rPr>
                        <a:t>5</a:t>
                      </a:r>
                    </a:p>
                  </a:txBody>
                  <a:tcPr marL="28378" marR="35473" marT="47297" marB="47297" anchor="ctr"/>
                </a:tc>
                <a:tc>
                  <a:txBody>
                    <a:bodyPr/>
                    <a:lstStyle/>
                    <a:p>
                      <a:pPr rtl="0">
                        <a:buNone/>
                      </a:pPr>
                      <a:r>
                        <a:rPr lang="en-US" sz="1400" b="1" dirty="0">
                          <a:solidFill>
                            <a:srgbClr val="1F1F1F"/>
                          </a:solidFill>
                          <a:effectLst/>
                        </a:rPr>
                        <a:t>Appropriate Warning</a:t>
                      </a:r>
                      <a:endParaRPr lang="en-US" sz="1400" dirty="0">
                        <a:solidFill>
                          <a:srgbClr val="1F1F1F"/>
                        </a:solidFill>
                        <a:effectLst/>
                        <a:latin typeface="Google Sans Text"/>
                      </a:endParaRPr>
                    </a:p>
                  </a:txBody>
                  <a:tcPr marL="28378" marR="35473" marT="47297" marB="47297" anchor="ctr">
                    <a:lnR w="12700" cap="flat" cmpd="sng" algn="ctr">
                      <a:solidFill>
                        <a:schemeClr val="tx1"/>
                      </a:solidFill>
                      <a:prstDash val="solid"/>
                      <a:round/>
                      <a:headEnd type="none" w="med" len="med"/>
                      <a:tailEnd type="none" w="med" len="med"/>
                    </a:lnR>
                  </a:tcPr>
                </a:tc>
                <a:tc>
                  <a:txBody>
                    <a:bodyPr/>
                    <a:lstStyle/>
                    <a:p>
                      <a:pPr lvl="0" rtl="0">
                        <a:buNone/>
                      </a:pPr>
                      <a:r>
                        <a:rPr lang="en-US" sz="1400" b="1" dirty="0">
                          <a:solidFill>
                            <a:srgbClr val="1F1F1F"/>
                          </a:solidFill>
                          <a:effectLst/>
                        </a:rPr>
                        <a:t>Measure graceful fallback:</a:t>
                      </a:r>
                      <a:r>
                        <a:rPr lang="en-US" sz="1400" dirty="0">
                          <a:solidFill>
                            <a:srgbClr val="1F1F1F"/>
                          </a:solidFill>
                          <a:effectLst/>
                        </a:rPr>
                        <a:t> The system correctly identified that evidence was partial (e.g., state-level only) and warned the user.</a:t>
                      </a:r>
                      <a:endParaRPr lang="en-US" sz="1400" dirty="0">
                        <a:solidFill>
                          <a:srgbClr val="1F1F1F"/>
                        </a:solidFill>
                        <a:effectLst/>
                        <a:latin typeface="Google Sans Text"/>
                      </a:endParaRPr>
                    </a:p>
                  </a:txBody>
                  <a:tcPr marL="28378" marR="28378" marT="47297" marB="47297"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88967515"/>
                  </a:ext>
                </a:extLst>
              </a:tr>
              <a:tr h="435134">
                <a:tc>
                  <a:txBody>
                    <a:bodyPr/>
                    <a:lstStyle/>
                    <a:p>
                      <a:pPr rtl="0">
                        <a:buNone/>
                      </a:pPr>
                      <a:r>
                        <a:rPr lang="en-US" sz="1400" dirty="0">
                          <a:solidFill>
                            <a:srgbClr val="1F1F1F"/>
                          </a:solidFill>
                          <a:effectLst/>
                          <a:latin typeface="Google Sans Text"/>
                        </a:rPr>
                        <a:t>6</a:t>
                      </a:r>
                    </a:p>
                  </a:txBody>
                  <a:tcPr marL="28378" marR="35473" marT="47297" marB="47297" anchor="ctr"/>
                </a:tc>
                <a:tc>
                  <a:txBody>
                    <a:bodyPr/>
                    <a:lstStyle/>
                    <a:p>
                      <a:pPr rtl="0">
                        <a:buNone/>
                      </a:pPr>
                      <a:r>
                        <a:rPr lang="en-US" sz="1400" b="1" dirty="0">
                          <a:solidFill>
                            <a:srgbClr val="1F1F1F"/>
                          </a:solidFill>
                          <a:effectLst/>
                        </a:rPr>
                        <a:t>Appropriate Abstention</a:t>
                      </a:r>
                      <a:endParaRPr lang="en-US" sz="1400" dirty="0">
                        <a:solidFill>
                          <a:srgbClr val="1F1F1F"/>
                        </a:solidFill>
                        <a:effectLst/>
                        <a:latin typeface="Google Sans Text"/>
                      </a:endParaRPr>
                    </a:p>
                  </a:txBody>
                  <a:tcPr marL="28378" marR="35473" marT="47297" marB="47297" anchor="ctr">
                    <a:lnR w="12700" cap="flat" cmpd="sng" algn="ctr">
                      <a:solidFill>
                        <a:schemeClr val="tx1"/>
                      </a:solidFill>
                      <a:prstDash val="solid"/>
                      <a:round/>
                      <a:headEnd type="none" w="med" len="med"/>
                      <a:tailEnd type="none" w="med" len="med"/>
                    </a:lnR>
                  </a:tcPr>
                </a:tc>
                <a:tc>
                  <a:txBody>
                    <a:bodyPr/>
                    <a:lstStyle/>
                    <a:p>
                      <a:pPr lvl="0" rtl="0">
                        <a:buNone/>
                      </a:pPr>
                      <a:r>
                        <a:rPr lang="en-US" sz="1400" b="1" dirty="0">
                          <a:solidFill>
                            <a:srgbClr val="1F1F1F"/>
                          </a:solidFill>
                          <a:effectLst/>
                        </a:rPr>
                        <a:t>Measures Safety:</a:t>
                      </a:r>
                      <a:r>
                        <a:rPr lang="en-US" sz="1400" dirty="0">
                          <a:solidFill>
                            <a:srgbClr val="1F1F1F"/>
                          </a:solidFill>
                          <a:effectLst/>
                        </a:rPr>
                        <a:t> The system correctly refused to answer because evidence was missing or geographically irrelevant.</a:t>
                      </a:r>
                      <a:endParaRPr lang="en-US" sz="1400" dirty="0">
                        <a:solidFill>
                          <a:srgbClr val="1F1F1F"/>
                        </a:solidFill>
                        <a:effectLst/>
                        <a:latin typeface="Google Sans Text"/>
                      </a:endParaRPr>
                    </a:p>
                  </a:txBody>
                  <a:tcPr marL="28378" marR="28378" marT="47297" marB="47297"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449912881"/>
                  </a:ext>
                </a:extLst>
              </a:tr>
              <a:tr h="435134">
                <a:tc>
                  <a:txBody>
                    <a:bodyPr/>
                    <a:lstStyle/>
                    <a:p>
                      <a:pPr rtl="0">
                        <a:buNone/>
                      </a:pPr>
                      <a:r>
                        <a:rPr lang="en-US" sz="1400" dirty="0">
                          <a:solidFill>
                            <a:srgbClr val="1F1F1F"/>
                          </a:solidFill>
                          <a:effectLst/>
                          <a:latin typeface="Google Sans Text"/>
                        </a:rPr>
                        <a:t>7</a:t>
                      </a:r>
                    </a:p>
                  </a:txBody>
                  <a:tcPr marL="28378" marR="35473" marT="47297" marB="47297" anchor="ctr"/>
                </a:tc>
                <a:tc>
                  <a:txBody>
                    <a:bodyPr/>
                    <a:lstStyle/>
                    <a:p>
                      <a:pPr rtl="0">
                        <a:buNone/>
                      </a:pPr>
                      <a:r>
                        <a:rPr lang="en-US" sz="1400" b="1" dirty="0">
                          <a:solidFill>
                            <a:srgbClr val="1F1F1F"/>
                          </a:solidFill>
                          <a:effectLst/>
                        </a:rPr>
                        <a:t>Over-Abstention</a:t>
                      </a:r>
                      <a:endParaRPr lang="en-US" sz="1400" dirty="0">
                        <a:solidFill>
                          <a:srgbClr val="1F1F1F"/>
                        </a:solidFill>
                        <a:effectLst/>
                        <a:latin typeface="Google Sans Text"/>
                      </a:endParaRPr>
                    </a:p>
                  </a:txBody>
                  <a:tcPr marL="28378" marR="35473" marT="47297" marB="47297" anchor="ctr">
                    <a:lnR w="12700" cap="flat" cmpd="sng" algn="ctr">
                      <a:solidFill>
                        <a:schemeClr val="tx1"/>
                      </a:solidFill>
                      <a:prstDash val="solid"/>
                      <a:round/>
                      <a:headEnd type="none" w="med" len="med"/>
                      <a:tailEnd type="none" w="med" len="med"/>
                    </a:lnR>
                  </a:tcPr>
                </a:tc>
                <a:tc>
                  <a:txBody>
                    <a:bodyPr/>
                    <a:lstStyle/>
                    <a:p>
                      <a:pPr lvl="0" rtl="0">
                        <a:buNone/>
                      </a:pPr>
                      <a:r>
                        <a:rPr lang="en-US" sz="1400" b="1" dirty="0">
                          <a:solidFill>
                            <a:srgbClr val="1F1F1F"/>
                          </a:solidFill>
                          <a:effectLst/>
                        </a:rPr>
                        <a:t>Measures Efficiency Loss:</a:t>
                      </a:r>
                      <a:r>
                        <a:rPr lang="en-US" sz="1400" dirty="0">
                          <a:solidFill>
                            <a:srgbClr val="1F1F1F"/>
                          </a:solidFill>
                          <a:effectLst/>
                        </a:rPr>
                        <a:t> The system refused to answer even though relevant jurisdictional evidence was present in the context.</a:t>
                      </a:r>
                      <a:endParaRPr lang="en-US" sz="1400" dirty="0">
                        <a:solidFill>
                          <a:srgbClr val="1F1F1F"/>
                        </a:solidFill>
                        <a:effectLst/>
                        <a:latin typeface="Google Sans Text"/>
                      </a:endParaRPr>
                    </a:p>
                  </a:txBody>
                  <a:tcPr marL="28378" marR="28378" marT="47297" marB="47297"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050681665"/>
                  </a:ext>
                </a:extLst>
              </a:tr>
              <a:tr h="435134">
                <a:tc>
                  <a:txBody>
                    <a:bodyPr/>
                    <a:lstStyle/>
                    <a:p>
                      <a:pPr rtl="0">
                        <a:buNone/>
                      </a:pPr>
                      <a:r>
                        <a:rPr lang="en-US" sz="1400" dirty="0">
                          <a:solidFill>
                            <a:srgbClr val="1F1F1F"/>
                          </a:solidFill>
                          <a:effectLst/>
                          <a:latin typeface="Google Sans Text"/>
                        </a:rPr>
                        <a:t>8</a:t>
                      </a:r>
                    </a:p>
                  </a:txBody>
                  <a:tcPr marL="28378" marR="35473" marT="47297" marB="47297" anchor="ctr"/>
                </a:tc>
                <a:tc>
                  <a:txBody>
                    <a:bodyPr/>
                    <a:lstStyle/>
                    <a:p>
                      <a:pPr rtl="0">
                        <a:buNone/>
                      </a:pPr>
                      <a:r>
                        <a:rPr lang="en-US" sz="1400" b="1" dirty="0">
                          <a:solidFill>
                            <a:srgbClr val="1F1F1F"/>
                          </a:solidFill>
                          <a:effectLst/>
                        </a:rPr>
                        <a:t>Avg. Evidence Coverage</a:t>
                      </a:r>
                      <a:endParaRPr lang="en-US" sz="1400" dirty="0">
                        <a:solidFill>
                          <a:srgbClr val="1F1F1F"/>
                        </a:solidFill>
                        <a:effectLst/>
                        <a:latin typeface="Google Sans Text"/>
                      </a:endParaRPr>
                    </a:p>
                  </a:txBody>
                  <a:tcPr marL="28378" marR="35473" marT="47297" marB="47297" anchor="ctr">
                    <a:lnR w="12700" cap="flat" cmpd="sng" algn="ctr">
                      <a:solidFill>
                        <a:schemeClr val="tx1"/>
                      </a:solidFill>
                      <a:prstDash val="solid"/>
                      <a:round/>
                      <a:headEnd type="none" w="med" len="med"/>
                      <a:tailEnd type="none" w="med" len="med"/>
                    </a:lnR>
                  </a:tcPr>
                </a:tc>
                <a:tc>
                  <a:txBody>
                    <a:bodyPr/>
                    <a:lstStyle/>
                    <a:p>
                      <a:pPr lvl="0" rtl="0">
                        <a:buNone/>
                      </a:pPr>
                      <a:r>
                        <a:rPr lang="en-US" sz="1400" b="1" dirty="0">
                          <a:solidFill>
                            <a:srgbClr val="1F1F1F"/>
                          </a:solidFill>
                          <a:effectLst/>
                        </a:rPr>
                        <a:t>Measures Retrieval Quality:</a:t>
                      </a:r>
                      <a:r>
                        <a:rPr lang="en-US" sz="1400" dirty="0">
                          <a:solidFill>
                            <a:srgbClr val="1F1F1F"/>
                          </a:solidFill>
                          <a:effectLst/>
                        </a:rPr>
                        <a:t> The average number of passages (0–6) per query that were both factually and geographically relevant.</a:t>
                      </a:r>
                      <a:endParaRPr lang="en-US" sz="1400" dirty="0">
                        <a:solidFill>
                          <a:srgbClr val="1F1F1F"/>
                        </a:solidFill>
                        <a:effectLst/>
                        <a:latin typeface="Google Sans Text"/>
                      </a:endParaRPr>
                    </a:p>
                  </a:txBody>
                  <a:tcPr marL="28378" marR="28378" marT="47297" marB="47297"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437689065"/>
                  </a:ext>
                </a:extLst>
              </a:tr>
              <a:tr h="520269">
                <a:tc>
                  <a:txBody>
                    <a:bodyPr/>
                    <a:lstStyle/>
                    <a:p>
                      <a:pPr rtl="0">
                        <a:buNone/>
                      </a:pPr>
                      <a:r>
                        <a:rPr lang="en-US" sz="1400" dirty="0">
                          <a:solidFill>
                            <a:srgbClr val="1F1F1F"/>
                          </a:solidFill>
                          <a:effectLst/>
                          <a:latin typeface="Google Sans Text"/>
                        </a:rPr>
                        <a:t>9</a:t>
                      </a:r>
                    </a:p>
                  </a:txBody>
                  <a:tcPr marL="28378" marR="35473" marT="47297" marB="47297" anchor="ctr"/>
                </a:tc>
                <a:tc>
                  <a:txBody>
                    <a:bodyPr/>
                    <a:lstStyle/>
                    <a:p>
                      <a:pPr rtl="0">
                        <a:buNone/>
                      </a:pPr>
                      <a:r>
                        <a:rPr lang="en-US" sz="1400" b="1" dirty="0">
                          <a:solidFill>
                            <a:srgbClr val="1F1F1F"/>
                          </a:solidFill>
                          <a:effectLst/>
                        </a:rPr>
                        <a:t>95% CI</a:t>
                      </a:r>
                      <a:endParaRPr lang="en-US" sz="1400" dirty="0">
                        <a:solidFill>
                          <a:srgbClr val="1F1F1F"/>
                        </a:solidFill>
                        <a:effectLst/>
                        <a:latin typeface="Google Sans Text"/>
                      </a:endParaRPr>
                    </a:p>
                  </a:txBody>
                  <a:tcPr marL="28378" marR="35473" marT="47297" marB="47297" anchor="ctr">
                    <a:lnR w="12700" cap="flat" cmpd="sng" algn="ctr">
                      <a:solidFill>
                        <a:schemeClr val="tx1"/>
                      </a:solidFill>
                      <a:prstDash val="solid"/>
                      <a:round/>
                      <a:headEnd type="none" w="med" len="med"/>
                      <a:tailEnd type="none" w="med" len="med"/>
                    </a:lnR>
                  </a:tcPr>
                </a:tc>
                <a:tc>
                  <a:txBody>
                    <a:bodyPr/>
                    <a:lstStyle/>
                    <a:p>
                      <a:pPr lvl="0" rtl="0">
                        <a:buNone/>
                      </a:pPr>
                      <a:r>
                        <a:rPr lang="en-US" sz="1400" b="1" dirty="0">
                          <a:solidFill>
                            <a:srgbClr val="1F1F1F"/>
                          </a:solidFill>
                          <a:effectLst/>
                        </a:rPr>
                        <a:t>Measures Statistical Significance:</a:t>
                      </a:r>
                      <a:r>
                        <a:rPr lang="en-US" sz="1400" dirty="0">
                          <a:solidFill>
                            <a:srgbClr val="1F1F1F"/>
                          </a:solidFill>
                          <a:effectLst/>
                        </a:rPr>
                        <a:t> The range within which the true metric mean lies, calculated via bootstrap resampling with 1000 iterations.</a:t>
                      </a:r>
                      <a:endParaRPr lang="en-US" sz="1400" dirty="0">
                        <a:solidFill>
                          <a:srgbClr val="1F1F1F"/>
                        </a:solidFill>
                        <a:effectLst/>
                        <a:latin typeface="Google Sans Text"/>
                      </a:endParaRPr>
                    </a:p>
                  </a:txBody>
                  <a:tcPr marL="28378" marR="28378" marT="47297" marB="47297"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884882276"/>
                  </a:ext>
                </a:extLst>
              </a:tr>
            </a:tbl>
          </a:graphicData>
        </a:graphic>
      </p:graphicFrame>
    </p:spTree>
    <p:extLst>
      <p:ext uri="{BB962C8B-B14F-4D97-AF65-F5344CB8AC3E}">
        <p14:creationId xmlns:p14="http://schemas.microsoft.com/office/powerpoint/2010/main" val="28475038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7D9AE6-1831-896E-3C03-3BBC5EB7FDD3}"/>
              </a:ext>
            </a:extLst>
          </p:cNvPr>
          <p:cNvSpPr>
            <a:spLocks noGrp="1"/>
          </p:cNvSpPr>
          <p:nvPr>
            <p:ph type="title"/>
          </p:nvPr>
        </p:nvSpPr>
        <p:spPr/>
        <p:txBody>
          <a:bodyPr/>
          <a:lstStyle/>
          <a:p>
            <a:r>
              <a:rPr lang="en-US" dirty="0"/>
              <a:t>Next Steps</a:t>
            </a:r>
          </a:p>
        </p:txBody>
      </p:sp>
      <p:sp>
        <p:nvSpPr>
          <p:cNvPr id="3" name="Content Placeholder 2">
            <a:extLst>
              <a:ext uri="{FF2B5EF4-FFF2-40B4-BE49-F238E27FC236}">
                <a16:creationId xmlns:a16="http://schemas.microsoft.com/office/drawing/2014/main" id="{2BA613A5-A4D0-7C98-98C9-8876253A18ED}"/>
              </a:ext>
            </a:extLst>
          </p:cNvPr>
          <p:cNvSpPr>
            <a:spLocks noGrp="1"/>
          </p:cNvSpPr>
          <p:nvPr>
            <p:ph idx="1"/>
          </p:nvPr>
        </p:nvSpPr>
        <p:spPr>
          <a:xfrm>
            <a:off x="838200" y="1426464"/>
            <a:ext cx="10515600" cy="5279135"/>
          </a:xfrm>
        </p:spPr>
        <p:txBody>
          <a:bodyPr>
            <a:normAutofit fontScale="92500" lnSpcReduction="10000"/>
          </a:bodyPr>
          <a:lstStyle/>
          <a:p>
            <a:pPr>
              <a:lnSpc>
                <a:spcPct val="120000"/>
              </a:lnSpc>
            </a:pPr>
            <a:r>
              <a:rPr lang="en-US" sz="2000" dirty="0"/>
              <a:t>5 csv files with </a:t>
            </a:r>
            <a:r>
              <a:rPr lang="en-US" sz="2000" dirty="0" err="1"/>
              <a:t>llm</a:t>
            </a:r>
            <a:r>
              <a:rPr lang="en-US" sz="2000" dirty="0"/>
              <a:t> generated answers and ground truths</a:t>
            </a:r>
          </a:p>
          <a:p>
            <a:pPr>
              <a:lnSpc>
                <a:spcPct val="120000"/>
              </a:lnSpc>
            </a:pPr>
            <a:r>
              <a:rPr lang="en-US" altLang="en-US" sz="2000" dirty="0">
                <a:latin typeface="Arial" panose="020B0604020202020204" pitchFamily="34" charset="0"/>
              </a:rPr>
              <a:t>Want to look at How correct answer is to the ground truth </a:t>
            </a:r>
          </a:p>
          <a:p>
            <a:pPr lvl="1">
              <a:lnSpc>
                <a:spcPct val="120000"/>
              </a:lnSpc>
            </a:pPr>
            <a:r>
              <a:rPr lang="en-US" altLang="en-US" sz="1600" dirty="0">
                <a:latin typeface="Arial" panose="020B0604020202020204" pitchFamily="34" charset="0"/>
              </a:rPr>
              <a:t>cross encoder to label to label support or opposes </a:t>
            </a:r>
            <a:r>
              <a:rPr lang="en-US" altLang="en-US" sz="1600" dirty="0" err="1">
                <a:latin typeface="Arial" panose="020B0604020202020204" pitchFamily="34" charset="0"/>
              </a:rPr>
              <a:t>gt</a:t>
            </a:r>
            <a:r>
              <a:rPr lang="en-US" altLang="en-US" sz="1600" dirty="0">
                <a:latin typeface="Arial" panose="020B0604020202020204" pitchFamily="34" charset="0"/>
              </a:rPr>
              <a:t> </a:t>
            </a:r>
          </a:p>
          <a:p>
            <a:pPr lvl="1">
              <a:lnSpc>
                <a:spcPct val="120000"/>
              </a:lnSpc>
            </a:pPr>
            <a:r>
              <a:rPr lang="en-US" altLang="en-US" sz="1600" dirty="0">
                <a:latin typeface="Arial" panose="020B0604020202020204" pitchFamily="34" charset="0"/>
              </a:rPr>
              <a:t>(entailment task we can check using cross encoder)</a:t>
            </a:r>
          </a:p>
          <a:p>
            <a:pPr>
              <a:lnSpc>
                <a:spcPct val="120000"/>
              </a:lnSpc>
            </a:pPr>
            <a:r>
              <a:rPr lang="en-US" altLang="en-US" sz="2000" dirty="0">
                <a:latin typeface="Arial" panose="020B0604020202020204" pitchFamily="34" charset="0"/>
              </a:rPr>
              <a:t>If we ask questions without clarifying location – how can we ask clarifying questions and test how well the clarifying questions are.</a:t>
            </a:r>
          </a:p>
          <a:p>
            <a:pPr lvl="1">
              <a:lnSpc>
                <a:spcPct val="120000"/>
              </a:lnSpc>
            </a:pPr>
            <a:r>
              <a:rPr lang="en-US" sz="1600" dirty="0"/>
              <a:t>Question: What wildfire mitigation rules apply in Springfield?</a:t>
            </a:r>
          </a:p>
          <a:p>
            <a:pPr lvl="1">
              <a:lnSpc>
                <a:spcPct val="120000"/>
              </a:lnSpc>
            </a:pPr>
            <a:r>
              <a:rPr lang="en-US" sz="1600" dirty="0"/>
              <a:t>System should not immediately retrieve from the most prominent Springfield. It should detect that Springfield has multiple plausible jurisdictions and ask:</a:t>
            </a:r>
          </a:p>
          <a:p>
            <a:pPr lvl="2">
              <a:lnSpc>
                <a:spcPct val="120000"/>
              </a:lnSpc>
            </a:pPr>
            <a:r>
              <a:rPr lang="en-US" sz="1400" dirty="0"/>
              <a:t>Which Springfield do you mean: Springfield, Illinois; Springfield, Massachusetts; Springfield, Oregon; or another Springfield?</a:t>
            </a:r>
          </a:p>
          <a:p>
            <a:pPr lvl="1">
              <a:lnSpc>
                <a:spcPct val="120000"/>
              </a:lnSpc>
            </a:pPr>
            <a:r>
              <a:rPr lang="en-US" sz="1600" dirty="0"/>
              <a:t>Ambiguous place names introduce a different form of geographic risk in that the system may retrieve highly relevant evidence for the wrong jurisdiction prior to applying meaningful graph-distances. In such scenarios, the appropriate behavior is not to rank or abstain immediately, but to ask a clarification question. We demonstrate this with ambiguous toponyms such as “Springfield,” where multiple U.S. jurisdictions are plausible. This case study shows how geo-risk can be used not only for retrieval-time filtering, but also for deciding when the user’s geographic intent is underspecified.</a:t>
            </a:r>
          </a:p>
        </p:txBody>
      </p:sp>
    </p:spTree>
    <p:extLst>
      <p:ext uri="{BB962C8B-B14F-4D97-AF65-F5344CB8AC3E}">
        <p14:creationId xmlns:p14="http://schemas.microsoft.com/office/powerpoint/2010/main" val="28044802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19A1D-CC79-817D-0509-E7B7EC2C5891}"/>
              </a:ext>
            </a:extLst>
          </p:cNvPr>
          <p:cNvSpPr>
            <a:spLocks noGrp="1"/>
          </p:cNvSpPr>
          <p:nvPr>
            <p:ph type="title"/>
          </p:nvPr>
        </p:nvSpPr>
        <p:spPr/>
        <p:txBody>
          <a:bodyPr/>
          <a:lstStyle/>
          <a:p>
            <a:r>
              <a:rPr lang="en-US" dirty="0"/>
              <a:t>Case Studies</a:t>
            </a:r>
          </a:p>
        </p:txBody>
      </p:sp>
      <p:sp>
        <p:nvSpPr>
          <p:cNvPr id="3" name="Content Placeholder 2">
            <a:extLst>
              <a:ext uri="{FF2B5EF4-FFF2-40B4-BE49-F238E27FC236}">
                <a16:creationId xmlns:a16="http://schemas.microsoft.com/office/drawing/2014/main" id="{6997F2ED-AFAA-D9BE-516A-44488869D593}"/>
              </a:ext>
            </a:extLst>
          </p:cNvPr>
          <p:cNvSpPr>
            <a:spLocks noGrp="1"/>
          </p:cNvSpPr>
          <p:nvPr>
            <p:ph idx="1"/>
          </p:nvPr>
        </p:nvSpPr>
        <p:spPr/>
        <p:txBody>
          <a:bodyPr>
            <a:normAutofit fontScale="92500" lnSpcReduction="10000"/>
          </a:bodyPr>
          <a:lstStyle/>
          <a:p>
            <a:r>
              <a:rPr lang="en-US" dirty="0"/>
              <a:t>Case 1: Exact keyword filtering fails</a:t>
            </a:r>
          </a:p>
          <a:p>
            <a:r>
              <a:rPr lang="en-US" dirty="0"/>
              <a:t>Case 2: Similarity-only retrieves wrong jurisdiction</a:t>
            </a:r>
          </a:p>
          <a:p>
            <a:r>
              <a:rPr lang="en-US" dirty="0"/>
              <a:t>Case 3: Full geo-first warns or abstains</a:t>
            </a:r>
          </a:p>
          <a:p>
            <a:r>
              <a:rPr lang="en-US" dirty="0"/>
              <a:t>Case 4: Ambiguous toponym clarification</a:t>
            </a:r>
          </a:p>
          <a:p>
            <a:endParaRPr lang="en-US" dirty="0"/>
          </a:p>
          <a:p>
            <a:r>
              <a:rPr lang="en-US" dirty="0"/>
              <a:t>Experiment section- evaluating </a:t>
            </a:r>
            <a:r>
              <a:rPr lang="en-US" dirty="0" err="1"/>
              <a:t>moels</a:t>
            </a:r>
            <a:r>
              <a:rPr lang="en-US" dirty="0"/>
              <a:t> on quality, uncertainty at answering location specific </a:t>
            </a:r>
            <a:r>
              <a:rPr lang="en-US" dirty="0" err="1"/>
              <a:t>qu</a:t>
            </a:r>
            <a:r>
              <a:rPr lang="en-US" dirty="0"/>
              <a:t>, how it abstains</a:t>
            </a:r>
          </a:p>
          <a:p>
            <a:pPr lvl="1"/>
            <a:r>
              <a:rPr lang="en-US" dirty="0"/>
              <a:t>Evaluation criteria/settings</a:t>
            </a:r>
          </a:p>
          <a:p>
            <a:r>
              <a:rPr lang="en-US" dirty="0"/>
              <a:t>For each- eval matrix (3 tables)</a:t>
            </a:r>
          </a:p>
          <a:p>
            <a:r>
              <a:rPr lang="en-US" dirty="0"/>
              <a:t>How evaluation matrix is </a:t>
            </a:r>
            <a:r>
              <a:rPr lang="en-US" dirty="0" err="1"/>
              <a:t>creted</a:t>
            </a:r>
            <a:r>
              <a:rPr lang="en-US" dirty="0"/>
              <a:t> using </a:t>
            </a:r>
            <a:r>
              <a:rPr lang="en-US" dirty="0" err="1"/>
              <a:t>llm</a:t>
            </a:r>
            <a:r>
              <a:rPr lang="en-US" dirty="0"/>
              <a:t> as judge</a:t>
            </a:r>
          </a:p>
        </p:txBody>
      </p:sp>
    </p:spTree>
    <p:extLst>
      <p:ext uri="{BB962C8B-B14F-4D97-AF65-F5344CB8AC3E}">
        <p14:creationId xmlns:p14="http://schemas.microsoft.com/office/powerpoint/2010/main" val="23718384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4621D95-5F90-A73C-48EA-27E796FBE9C5}"/>
              </a:ext>
            </a:extLst>
          </p:cNvPr>
          <p:cNvSpPr>
            <a:spLocks noGrp="1"/>
          </p:cNvSpPr>
          <p:nvPr>
            <p:ph type="title"/>
          </p:nvPr>
        </p:nvSpPr>
        <p:spPr/>
        <p:txBody>
          <a:bodyPr/>
          <a:lstStyle/>
          <a:p>
            <a:r>
              <a:rPr lang="en-US" dirty="0"/>
              <a:t>FLLM Idea</a:t>
            </a:r>
          </a:p>
        </p:txBody>
      </p:sp>
      <p:sp>
        <p:nvSpPr>
          <p:cNvPr id="5" name="Text Placeholder 4">
            <a:extLst>
              <a:ext uri="{FF2B5EF4-FFF2-40B4-BE49-F238E27FC236}">
                <a16:creationId xmlns:a16="http://schemas.microsoft.com/office/drawing/2014/main" id="{322D216D-C45F-B93A-36B7-4E9E266314D2}"/>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8060762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951A53-5B13-7252-7C70-695A3C9F7B9C}"/>
              </a:ext>
            </a:extLst>
          </p:cNvPr>
          <p:cNvSpPr>
            <a:spLocks noGrp="1"/>
          </p:cNvSpPr>
          <p:nvPr>
            <p:ph type="title"/>
          </p:nvPr>
        </p:nvSpPr>
        <p:spPr/>
        <p:txBody>
          <a:bodyPr/>
          <a:lstStyle/>
          <a:p>
            <a:r>
              <a:rPr lang="en-US" dirty="0"/>
              <a:t>Idea behind localizing geospatial decision making in LLMs</a:t>
            </a:r>
          </a:p>
        </p:txBody>
      </p:sp>
      <p:sp>
        <p:nvSpPr>
          <p:cNvPr id="3" name="Content Placeholder 2">
            <a:extLst>
              <a:ext uri="{FF2B5EF4-FFF2-40B4-BE49-F238E27FC236}">
                <a16:creationId xmlns:a16="http://schemas.microsoft.com/office/drawing/2014/main" id="{BCD065B1-0F58-5FD8-1BA8-170E5A4FA90A}"/>
              </a:ext>
            </a:extLst>
          </p:cNvPr>
          <p:cNvSpPr>
            <a:spLocks noGrp="1"/>
          </p:cNvSpPr>
          <p:nvPr>
            <p:ph idx="1"/>
          </p:nvPr>
        </p:nvSpPr>
        <p:spPr/>
        <p:txBody>
          <a:bodyPr>
            <a:normAutofit fontScale="85000" lnSpcReduction="20000"/>
          </a:bodyPr>
          <a:lstStyle/>
          <a:p>
            <a:r>
              <a:rPr lang="en-US" dirty="0"/>
              <a:t>Current methods to control LLM behavior rely on prompt engineering. </a:t>
            </a:r>
          </a:p>
          <a:p>
            <a:r>
              <a:rPr lang="en-US" dirty="0"/>
              <a:t>However, prompting is surface-level, token-expensive, and easily manipulable by the model’s pre-trained biases.</a:t>
            </a:r>
          </a:p>
          <a:p>
            <a:r>
              <a:rPr lang="en-US" dirty="0"/>
              <a:t>If we understand </a:t>
            </a:r>
            <a:r>
              <a:rPr lang="en-US" i="1" dirty="0"/>
              <a:t>where</a:t>
            </a:r>
            <a:r>
              <a:rPr lang="en-US" dirty="0"/>
              <a:t> geography/geospatial information is stored, we can make these models more interpretable and reliable for high-stakes natural hazard mitigation tasks</a:t>
            </a:r>
          </a:p>
          <a:p>
            <a:r>
              <a:rPr lang="en-US" dirty="0"/>
              <a:t>Geospatial information can be ambiguous with linguistic data. We don't know if a model understands "Paris" as a location or just a high-probability token following "Eiffel Tower.”</a:t>
            </a:r>
          </a:p>
          <a:p>
            <a:r>
              <a:rPr lang="en-US" dirty="0"/>
              <a:t>We lack a precise map of which layers are responsible for transforming a place name into a spatial decision</a:t>
            </a:r>
          </a:p>
          <a:p>
            <a:r>
              <a:rPr lang="en-US" dirty="0"/>
              <a:t>Models sometimes hallucinate proximity (e.g., say two distant cities are neighbors) because their internal spatial vectors are poorly aligned</a:t>
            </a:r>
          </a:p>
        </p:txBody>
      </p:sp>
    </p:spTree>
    <p:extLst>
      <p:ext uri="{BB962C8B-B14F-4D97-AF65-F5344CB8AC3E}">
        <p14:creationId xmlns:p14="http://schemas.microsoft.com/office/powerpoint/2010/main" val="5109501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0D97E-D6D7-91E6-4150-1A002099353A}"/>
              </a:ext>
            </a:extLst>
          </p:cNvPr>
          <p:cNvSpPr>
            <a:spLocks noGrp="1"/>
          </p:cNvSpPr>
          <p:nvPr>
            <p:ph type="title"/>
          </p:nvPr>
        </p:nvSpPr>
        <p:spPr/>
        <p:txBody>
          <a:bodyPr/>
          <a:lstStyle/>
          <a:p>
            <a:r>
              <a:rPr lang="en-US" dirty="0"/>
              <a:t>Potential Contributions</a:t>
            </a:r>
          </a:p>
        </p:txBody>
      </p:sp>
      <p:sp>
        <p:nvSpPr>
          <p:cNvPr id="3" name="Content Placeholder 2">
            <a:extLst>
              <a:ext uri="{FF2B5EF4-FFF2-40B4-BE49-F238E27FC236}">
                <a16:creationId xmlns:a16="http://schemas.microsoft.com/office/drawing/2014/main" id="{5CC8141B-9A92-558E-DF15-8716AF6C8C2B}"/>
              </a:ext>
            </a:extLst>
          </p:cNvPr>
          <p:cNvSpPr>
            <a:spLocks noGrp="1"/>
          </p:cNvSpPr>
          <p:nvPr>
            <p:ph idx="1"/>
          </p:nvPr>
        </p:nvSpPr>
        <p:spPr/>
        <p:txBody>
          <a:bodyPr/>
          <a:lstStyle/>
          <a:p>
            <a:r>
              <a:rPr lang="en-US" dirty="0"/>
              <a:t>Identify where the specific layers where geospatial representations are most concentrated, moving from semantic tokens to physical coordinates.</a:t>
            </a:r>
          </a:p>
          <a:p>
            <a:r>
              <a:rPr lang="en-US" b="1" dirty="0"/>
              <a:t>Geospatial Activation Steering (GAS):</a:t>
            </a:r>
            <a:r>
              <a:rPr lang="en-US" dirty="0"/>
              <a:t> introduce a technique to steer the LLM’s output by applying vector offsets without changing prompting</a:t>
            </a:r>
          </a:p>
          <a:p>
            <a:r>
              <a:rPr lang="en-US" dirty="0"/>
              <a:t>Show that steering the geospatial vectors significantly reduces spatial hallucinations and improves performance on regional downstream tasks</a:t>
            </a:r>
          </a:p>
        </p:txBody>
      </p:sp>
    </p:spTree>
    <p:extLst>
      <p:ext uri="{BB962C8B-B14F-4D97-AF65-F5344CB8AC3E}">
        <p14:creationId xmlns:p14="http://schemas.microsoft.com/office/powerpoint/2010/main" val="224224681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2F4E66-FDAF-C8CD-8967-54E30B867933}"/>
              </a:ext>
            </a:extLst>
          </p:cNvPr>
          <p:cNvSpPr>
            <a:spLocks noGrp="1"/>
          </p:cNvSpPr>
          <p:nvPr>
            <p:ph type="title"/>
          </p:nvPr>
        </p:nvSpPr>
        <p:spPr/>
        <p:txBody>
          <a:bodyPr>
            <a:normAutofit fontScale="90000"/>
          </a:bodyPr>
          <a:lstStyle/>
          <a:p>
            <a:r>
              <a:rPr lang="en-US" dirty="0"/>
              <a:t>Research Gap: How does the model represent the </a:t>
            </a:r>
            <a:r>
              <a:rPr lang="en-US" i="1" dirty="0"/>
              <a:t>concept</a:t>
            </a:r>
            <a:r>
              <a:rPr lang="en-US" dirty="0"/>
              <a:t> of space, and can we manually manipulate it?</a:t>
            </a:r>
          </a:p>
        </p:txBody>
      </p:sp>
      <p:sp>
        <p:nvSpPr>
          <p:cNvPr id="3" name="Content Placeholder 2">
            <a:extLst>
              <a:ext uri="{FF2B5EF4-FFF2-40B4-BE49-F238E27FC236}">
                <a16:creationId xmlns:a16="http://schemas.microsoft.com/office/drawing/2014/main" id="{74678EA7-8BE7-BD1E-377A-24C81F27D66B}"/>
              </a:ext>
            </a:extLst>
          </p:cNvPr>
          <p:cNvSpPr>
            <a:spLocks noGrp="1"/>
          </p:cNvSpPr>
          <p:nvPr>
            <p:ph idx="1"/>
          </p:nvPr>
        </p:nvSpPr>
        <p:spPr/>
        <p:txBody>
          <a:bodyPr>
            <a:normAutofit fontScale="70000" lnSpcReduction="20000"/>
          </a:bodyPr>
          <a:lstStyle/>
          <a:p>
            <a:r>
              <a:rPr lang="en-US" b="1" dirty="0"/>
              <a:t>The Causal Aspect</a:t>
            </a:r>
          </a:p>
          <a:p>
            <a:r>
              <a:rPr lang="en-US" dirty="0"/>
              <a:t>Show that geospatial representations are not just "metadata" but are </a:t>
            </a:r>
            <a:r>
              <a:rPr lang="en-US" b="1" dirty="0"/>
              <a:t>causally linked</a:t>
            </a:r>
            <a:r>
              <a:rPr lang="en-US" dirty="0"/>
              <a:t> to the model’s reasoning.</a:t>
            </a:r>
          </a:p>
          <a:p>
            <a:pPr lvl="1"/>
            <a:r>
              <a:rPr lang="en-US" dirty="0"/>
              <a:t>previous work showed the model </a:t>
            </a:r>
            <a:r>
              <a:rPr lang="en-US" i="1" dirty="0"/>
              <a:t>has</a:t>
            </a:r>
            <a:r>
              <a:rPr lang="en-US" dirty="0"/>
              <a:t> a map but I want to show that shifting the internal "coordinate vector," can force the model to change its factual output </a:t>
            </a:r>
          </a:p>
          <a:p>
            <a:pPr lvl="1"/>
            <a:r>
              <a:rPr lang="en-US" dirty="0"/>
              <a:t>(e.g., changing its description of local flora, climate, or infrastructure) without changing the text prompt.</a:t>
            </a:r>
          </a:p>
          <a:p>
            <a:r>
              <a:rPr lang="en-US" b="1" dirty="0"/>
              <a:t>Steering Continuous Spaces</a:t>
            </a:r>
          </a:p>
          <a:p>
            <a:pPr lvl="1"/>
            <a:r>
              <a:rPr lang="en-US" b="1" dirty="0"/>
              <a:t>Geospatial Activation Steering (GAS)</a:t>
            </a:r>
            <a:r>
              <a:rPr lang="en-US" dirty="0"/>
              <a:t>, a framework for manipulating continuous, multi-dimensional coordinate gradients within the transformer.</a:t>
            </a:r>
          </a:p>
          <a:p>
            <a:pPr lvl="1"/>
            <a:r>
              <a:rPr lang="en-US" dirty="0"/>
              <a:t>Most "Representation Engineering" focuses on binary behaviors but this is a new approach to steering numerical, spatial gradients It will show how to steer a model 500 miles North or to a specific arid climate zone using activation patching.</a:t>
            </a:r>
          </a:p>
          <a:p>
            <a:r>
              <a:rPr lang="en-US" b="1" dirty="0"/>
              <a:t>How it is better than just Prompting</a:t>
            </a:r>
          </a:p>
          <a:p>
            <a:pPr lvl="1"/>
            <a:r>
              <a:rPr lang="en-US" dirty="0"/>
              <a:t>Show that internal vector steering is significantly more robust than prompt engineering for geographic metadata matching</a:t>
            </a:r>
          </a:p>
          <a:p>
            <a:pPr lvl="1"/>
            <a:r>
              <a:rPr lang="en-US" dirty="0"/>
              <a:t>when a model is "steered" toward a location, it is less likely to "spatial hallucinate" or be distracted by conflicting information in the prompt</a:t>
            </a:r>
          </a:p>
        </p:txBody>
      </p:sp>
    </p:spTree>
    <p:extLst>
      <p:ext uri="{BB962C8B-B14F-4D97-AF65-F5344CB8AC3E}">
        <p14:creationId xmlns:p14="http://schemas.microsoft.com/office/powerpoint/2010/main" val="22966773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71A4D5-4AF1-C62C-9172-82A6FAA3666D}"/>
              </a:ext>
            </a:extLst>
          </p:cNvPr>
          <p:cNvSpPr>
            <a:spLocks noGrp="1"/>
          </p:cNvSpPr>
          <p:nvPr>
            <p:ph type="title"/>
          </p:nvPr>
        </p:nvSpPr>
        <p:spPr/>
        <p:txBody>
          <a:bodyPr/>
          <a:lstStyle/>
          <a:p>
            <a:r>
              <a:rPr lang="en-US" dirty="0"/>
              <a:t>Impact</a:t>
            </a:r>
          </a:p>
        </p:txBody>
      </p:sp>
      <p:sp>
        <p:nvSpPr>
          <p:cNvPr id="3" name="Content Placeholder 2">
            <a:extLst>
              <a:ext uri="{FF2B5EF4-FFF2-40B4-BE49-F238E27FC236}">
                <a16:creationId xmlns:a16="http://schemas.microsoft.com/office/drawing/2014/main" id="{5B779261-CE76-5CAF-774B-6968E8EA1ECE}"/>
              </a:ext>
            </a:extLst>
          </p:cNvPr>
          <p:cNvSpPr>
            <a:spLocks noGrp="1"/>
          </p:cNvSpPr>
          <p:nvPr>
            <p:ph idx="1"/>
          </p:nvPr>
        </p:nvSpPr>
        <p:spPr/>
        <p:txBody>
          <a:bodyPr/>
          <a:lstStyle/>
          <a:p>
            <a:r>
              <a:rPr lang="en-US" dirty="0"/>
              <a:t>Show that by steering the Spatial Vector, we can make the model understand the topography more clearly, leading to better disaster reasoning than if we just typed "Assume there is a mountain here" in the prompt.</a:t>
            </a:r>
          </a:p>
        </p:txBody>
      </p:sp>
    </p:spTree>
    <p:extLst>
      <p:ext uri="{BB962C8B-B14F-4D97-AF65-F5344CB8AC3E}">
        <p14:creationId xmlns:p14="http://schemas.microsoft.com/office/powerpoint/2010/main" val="295749449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78C25-2E27-B9AD-AD25-1C09988DBB97}"/>
              </a:ext>
            </a:extLst>
          </p:cNvPr>
          <p:cNvSpPr>
            <a:spLocks noGrp="1"/>
          </p:cNvSpPr>
          <p:nvPr>
            <p:ph type="title"/>
          </p:nvPr>
        </p:nvSpPr>
        <p:spPr/>
        <p:txBody>
          <a:bodyPr/>
          <a:lstStyle/>
          <a:p>
            <a:r>
              <a:rPr lang="en-US" dirty="0"/>
              <a:t>Background Literature</a:t>
            </a:r>
          </a:p>
        </p:txBody>
      </p:sp>
      <p:sp>
        <p:nvSpPr>
          <p:cNvPr id="3" name="Content Placeholder 2">
            <a:extLst>
              <a:ext uri="{FF2B5EF4-FFF2-40B4-BE49-F238E27FC236}">
                <a16:creationId xmlns:a16="http://schemas.microsoft.com/office/drawing/2014/main" id="{EF47925E-0EDC-0993-14C1-3AF8302F99D5}"/>
              </a:ext>
            </a:extLst>
          </p:cNvPr>
          <p:cNvSpPr>
            <a:spLocks noGrp="1"/>
          </p:cNvSpPr>
          <p:nvPr>
            <p:ph idx="1"/>
          </p:nvPr>
        </p:nvSpPr>
        <p:spPr/>
        <p:txBody>
          <a:bodyPr>
            <a:normAutofit lnSpcReduction="10000"/>
          </a:bodyPr>
          <a:lstStyle/>
          <a:p>
            <a:r>
              <a:rPr lang="en-US" dirty="0">
                <a:hlinkClick r:id="rId2"/>
              </a:rPr>
              <a:t>https://aclanthology.org/2025.emnlp-main.813.pdf</a:t>
            </a:r>
            <a:endParaRPr lang="en-US" dirty="0"/>
          </a:p>
          <a:p>
            <a:pPr lvl="1"/>
            <a:r>
              <a:rPr lang="en-US" dirty="0"/>
              <a:t>In this work, we show that question ambiguity is linearly encoded in the internal representations of LLMs and can be both detected and controlled at the neuron level.</a:t>
            </a:r>
          </a:p>
          <a:p>
            <a:r>
              <a:rPr lang="en-US" dirty="0">
                <a:hlinkClick r:id="rId3"/>
              </a:rPr>
              <a:t>https://arxiv.org/html/2410.14155v2</a:t>
            </a:r>
            <a:endParaRPr lang="en-US" dirty="0"/>
          </a:p>
          <a:p>
            <a:pPr lvl="1"/>
            <a:r>
              <a:rPr lang="en-US" dirty="0"/>
              <a:t>leverage a causal mediation technique called activation patching, to measure the faithfulness of an explanation towards supporting the explained answer</a:t>
            </a:r>
          </a:p>
          <a:p>
            <a:r>
              <a:rPr lang="en-US" dirty="0">
                <a:hlinkClick r:id="rId4"/>
              </a:rPr>
              <a:t>https://arxiv.org/pdf/2601.12626</a:t>
            </a:r>
            <a:endParaRPr lang="en-US" dirty="0"/>
          </a:p>
          <a:p>
            <a:pPr lvl="1"/>
            <a:r>
              <a:rPr lang="en-US" dirty="0"/>
              <a:t>We search for such confluence, and ask whether the identified representation can causally explain aspects of input-output model behavior through a linear model.</a:t>
            </a:r>
          </a:p>
        </p:txBody>
      </p:sp>
    </p:spTree>
    <p:extLst>
      <p:ext uri="{BB962C8B-B14F-4D97-AF65-F5344CB8AC3E}">
        <p14:creationId xmlns:p14="http://schemas.microsoft.com/office/powerpoint/2010/main" val="13959311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92999</TotalTime>
  <Words>3963</Words>
  <Application>Microsoft Macintosh PowerPoint</Application>
  <PresentationFormat>Widescreen</PresentationFormat>
  <Paragraphs>384</Paragraphs>
  <Slides>31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31</vt:i4>
      </vt:variant>
    </vt:vector>
  </HeadingPairs>
  <TitlesOfParts>
    <vt:vector size="37" baseType="lpstr">
      <vt:lpstr>Aptos</vt:lpstr>
      <vt:lpstr>Aptos Display</vt:lpstr>
      <vt:lpstr>Arial</vt:lpstr>
      <vt:lpstr>Google Sans Text</vt:lpstr>
      <vt:lpstr>Helvetica Neue</vt:lpstr>
      <vt:lpstr>Office Theme</vt:lpstr>
      <vt:lpstr>PowerPoint Presentation</vt:lpstr>
      <vt:lpstr>Wildfire Q and A Links</vt:lpstr>
      <vt:lpstr>Research Questions</vt:lpstr>
      <vt:lpstr>WildfireGPT</vt:lpstr>
      <vt:lpstr>Geographical uncertainty quantification</vt:lpstr>
      <vt:lpstr>Tasks</vt:lpstr>
      <vt:lpstr>PowerPoint Presentation</vt:lpstr>
      <vt:lpstr>April 10 2026</vt:lpstr>
      <vt:lpstr>April 10 2026</vt:lpstr>
      <vt:lpstr>April 10 2026</vt:lpstr>
      <vt:lpstr>Jurisdiction-sensitive retrieval in RAG Intro</vt:lpstr>
      <vt:lpstr>PowerPoint Presentation</vt:lpstr>
      <vt:lpstr>How to prove the risk metric adds value beyond exact-match filtering- it ranks mismatch and supports better decisions under imperfect retrieval.</vt:lpstr>
      <vt:lpstr>Notes and thoughts</vt:lpstr>
      <vt:lpstr>PowerPoint Presentation</vt:lpstr>
      <vt:lpstr>Week of 04/19</vt:lpstr>
      <vt:lpstr>Resolving Some Limitations</vt:lpstr>
      <vt:lpstr>Get all locations from chunked passages</vt:lpstr>
      <vt:lpstr>Geo Extraction Steps</vt:lpstr>
      <vt:lpstr>Week of 04/26</vt:lpstr>
      <vt:lpstr>Selecting Appropriate top-k Value</vt:lpstr>
      <vt:lpstr>Result with bge small+gpt oss</vt:lpstr>
      <vt:lpstr>LLM as a judge metrics  For each question, I ask to pick one and give reason Using nemotron—3-super</vt:lpstr>
      <vt:lpstr>Next Steps</vt:lpstr>
      <vt:lpstr>Case Studies</vt:lpstr>
      <vt:lpstr>FLLM Idea</vt:lpstr>
      <vt:lpstr>Idea behind localizing geospatial decision making in LLMs</vt:lpstr>
      <vt:lpstr>Potential Contributions</vt:lpstr>
      <vt:lpstr>Research Gap: How does the model represent the concept of space, and can we manually manipulate it?</vt:lpstr>
      <vt:lpstr>Impact</vt:lpstr>
      <vt:lpstr>Background Literature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Meenu Ravi</dc:creator>
  <cp:lastModifiedBy>Meenu Ravi</cp:lastModifiedBy>
  <cp:revision>11</cp:revision>
  <cp:lastPrinted>2026-04-17T12:54:55Z</cp:lastPrinted>
  <dcterms:created xsi:type="dcterms:W3CDTF">2026-02-25T21:13:42Z</dcterms:created>
  <dcterms:modified xsi:type="dcterms:W3CDTF">2026-05-14T13:02:49Z</dcterms:modified>
</cp:coreProperties>
</file>