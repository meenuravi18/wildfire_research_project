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4"/>
    <p:sldId id="262" r:id="rId5"/>
    <p:sldId id="259" r:id="rId6"/>
    <p:sldId id="263" r:id="rId7"/>
    <p:sldId id="264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862"/>
    <p:restoredTop sz="94795"/>
  </p:normalViewPr>
  <p:slideViewPr>
    <p:cSldViewPr snapToGrid="0">
      <p:cViewPr>
        <p:scale>
          <a:sx n="150" d="100"/>
          <a:sy n="150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4BD04-BB4E-68EC-B3A1-7DC4D30E9F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24D359-DBA3-5972-8E8F-82B6200AC1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0B77E-09D1-9736-C573-9D5B9B3C3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FD8B2-0A92-C349-9333-5CC94EE76328}" type="datetimeFigureOut">
              <a:rPr lang="en-US" smtClean="0"/>
              <a:t>3/6/26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F6257E-A34D-31D2-76AA-DA0C5C895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117CAA-5A04-5FA0-F0DA-1BBDF7BDE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C706-30C5-7745-B8C1-8B12DE6C33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6327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89518-B464-D310-1409-01C6AD792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43D4C-7EC7-8B7E-CAC7-433C601BFD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2D00C-68ED-3774-22B3-B04FACCB06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FD8B2-0A92-C349-9333-5CC94EE76328}" type="datetimeFigureOut">
              <a:rPr lang="en-US" smtClean="0"/>
              <a:t>3/6/26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40AFF6-4871-1CB7-DC52-29A791657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E1687-7107-A6FD-1B7C-1DB9F35CD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C706-30C5-7745-B8C1-8B12DE6C33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8309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0DFB3-EDDA-3F40-5B2E-CD322D18C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2B739-6CA9-70DA-04E6-09E26EC280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E10300-5662-32BB-1B90-99E59FB7F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FD8B2-0A92-C349-9333-5CC94EE76328}" type="datetimeFigureOut">
              <a:rPr lang="en-US" smtClean="0"/>
              <a:t>3/6/26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5712E1-978F-BFA9-E278-17DF2D51F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23AFEE-53CF-EB7E-EE0A-3526FCD4C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C706-30C5-7745-B8C1-8B12DE6C33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135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A3E84-0C90-E56A-4AC3-0EB214059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57B04-47C2-99E4-5471-8D1CD2AFB6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2C284D-88AA-A5F0-7438-E560F0EC06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80840C-5EC5-3D97-7275-7632AB8A4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FD8B2-0A92-C349-9333-5CC94EE76328}" type="datetimeFigureOut">
              <a:rPr lang="en-US" smtClean="0"/>
              <a:t>3/6/26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3D49E3-057A-D74C-E339-8A4467312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9F29AC-3297-FC40-F545-807C24E4F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C706-30C5-7745-B8C1-8B12DE6C33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546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4ACD0-484F-2C31-BAD8-C316FE91F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BB3255-3B71-BE27-48F5-21F93FFC5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3BE4C7-AA89-4930-B4DF-022CC2B502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6DDFC1-4934-317A-CBC8-B7F6BA6EF0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E972C0-22CF-2EDC-1091-63268A2D06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18B0A2-4FEC-DCD3-7495-CB3360605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FD8B2-0A92-C349-9333-5CC94EE76328}" type="datetimeFigureOut">
              <a:rPr lang="en-US" smtClean="0"/>
              <a:t>3/6/26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F52E8C-D7F0-AE98-5944-5255C33A0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8ECE6E-DF6D-BC14-AB19-686D68420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C706-30C5-7745-B8C1-8B12DE6C33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123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11BD5-5E8D-D522-7F63-E8CF31642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5822E6-E58A-2ADB-974C-A2E40779D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FD8B2-0A92-C349-9333-5CC94EE76328}" type="datetimeFigureOut">
              <a:rPr lang="en-US" smtClean="0"/>
              <a:t>3/6/26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B8830A-BBEE-B638-E9FB-4308A6BE4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200FCF-43B9-B2E4-143A-78EC3281B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C706-30C5-7745-B8C1-8B12DE6C33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34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FE3D64-80ED-C26B-D036-B611358C0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FD8B2-0A92-C349-9333-5CC94EE76328}" type="datetimeFigureOut">
              <a:rPr lang="en-US" smtClean="0"/>
              <a:t>3/6/26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BA003F-61DA-7F49-A912-830BE690C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DA9877-758F-0FDE-4B2D-527DF62C9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C706-30C5-7745-B8C1-8B12DE6C33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552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21BEF-5D64-5C8B-5260-72F9C139BD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3845CC-89BB-F9F0-42A5-2BE24B5083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C77D4E-7325-F06B-C9EF-31D61B1B14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AF9845-18BD-BACB-8645-BC69AF191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FD8B2-0A92-C349-9333-5CC94EE76328}" type="datetimeFigureOut">
              <a:rPr lang="en-US" smtClean="0"/>
              <a:t>3/6/26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D024F8-0FBB-C7ED-B94F-565C8ED95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50E933-7452-B738-9F54-2831D85FE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C706-30C5-7745-B8C1-8B12DE6C33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9243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0935-22F8-6BC9-C165-DB450CE21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9AC6A1-44A8-8CFD-4E51-8CAA658EC9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B3708B-54D1-19FA-6C0A-D8482F012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E5E6E1-4826-E003-77DA-F9C80E15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FD8B2-0A92-C349-9333-5CC94EE76328}" type="datetimeFigureOut">
              <a:rPr lang="en-US" smtClean="0"/>
              <a:t>3/6/26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77BA8A-AA4D-E4CE-3972-464D00F46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2FFE4B-BCE2-FCAA-9069-6C64FA898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C706-30C5-7745-B8C1-8B12DE6C33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338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6443D-E7AE-D900-32AC-A94C4DB46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301F55-4735-1C0E-0154-446F864FA5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E519FF-BA85-59EF-5D33-0F9345427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FD8B2-0A92-C349-9333-5CC94EE76328}" type="datetimeFigureOut">
              <a:rPr lang="en-US" smtClean="0"/>
              <a:t>3/6/26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3A1846-EE30-F223-FABE-E51C1C3ED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87EFF1-8B26-B18C-1D89-FF7E85333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C706-30C5-7745-B8C1-8B12DE6C33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361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D0ED7E-8CE2-2A00-C7CB-5C0DA3E576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F82370-EE66-9AD5-6A2B-FE0BCED195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D04AC3-163D-431A-305D-1DE9DFE51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FD8B2-0A92-C349-9333-5CC94EE76328}" type="datetimeFigureOut">
              <a:rPr lang="en-US" smtClean="0"/>
              <a:t>3/6/26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878D66-9C8C-91B2-BB54-A911FCBDA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4973E1-F733-D471-6EDF-DACDF376B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C706-30C5-7745-B8C1-8B12DE6C33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5447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BAEA15-D0B1-F0A7-BA5D-65147C761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C9D1EA-B40D-30BF-A736-B9429511EE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2ED8DC-DDFB-0ED4-3FE9-1613FF2DB8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8FD8B2-0A92-C349-9333-5CC94EE76328}" type="datetimeFigureOut">
              <a:rPr lang="en-US" smtClean="0"/>
              <a:t>3/6/26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74647-9428-0B87-1316-2F4DDAEB2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909291-9A09-3326-9743-09BA8B4DC9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55C706-30C5-7745-B8C1-8B12DE6C33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90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https://wildfirepartners.org/general-faq/" TargetMode="External"/><Relationship Id="rId18" Type="http://schemas.openxmlformats.org/officeDocument/2006/relationships/hyperlink" Target="https://extension.oregonstate.edu/catalog/em-9193-fire-faqs-managing-wildfire-resource-benefit" TargetMode="External"/><Relationship Id="rId26" Type="http://schemas.openxmlformats.org/officeDocument/2006/relationships/hyperlink" Target="https://des.mt.gov/Preparedness/Wildfire-Season-Resources" TargetMode="External"/><Relationship Id="rId3" Type="http://schemas.openxmlformats.org/officeDocument/2006/relationships/hyperlink" Target="https://lao.ca.gov/Publications/Report/4952" TargetMode="External"/><Relationship Id="rId21" Type="http://schemas.openxmlformats.org/officeDocument/2006/relationships/hyperlink" Target="https://www.wildfirela.org/2025/01/17/before-you-can-go-home-after-the-fires/" TargetMode="External"/><Relationship Id="rId7" Type="http://schemas.openxmlformats.org/officeDocument/2006/relationships/hyperlink" Target="https://hsph.harvard.edu/environmental-health/news/health-impacts-of-wildfires-frequently-asked-questions/" TargetMode="External"/><Relationship Id="rId12" Type="http://schemas.openxmlformats.org/officeDocument/2006/relationships/hyperlink" Target="https://sharedsystems.dhsoha.state.or.us/DHSForms/Served/le8626.pdf" TargetMode="External"/><Relationship Id="rId17" Type="http://schemas.openxmlformats.org/officeDocument/2006/relationships/hyperlink" Target="https://theodorepayne.org/wildfire-faq/" TargetMode="External"/><Relationship Id="rId25" Type="http://schemas.openxmlformats.org/officeDocument/2006/relationships/hyperlink" Target="https://coloradosprings.gov/WildfireReady" TargetMode="External"/><Relationship Id="rId33" Type="http://schemas.openxmlformats.org/officeDocument/2006/relationships/hyperlink" Target="file:///Users/meenuravi/Downloads/wildfire-smoke-faq-pdf-en.pdf" TargetMode="External"/><Relationship Id="rId2" Type="http://schemas.openxmlformats.org/officeDocument/2006/relationships/hyperlink" Target="https://www.nfpa.org/news-blogs-and-articles/blogs/2025/01/15/los-angeles-wildfires-frequently-asked-questions" TargetMode="External"/><Relationship Id="rId16" Type="http://schemas.openxmlformats.org/officeDocument/2006/relationships/hyperlink" Target="https://www.pscleanair.gov/m/faq?cat=32" TargetMode="External"/><Relationship Id="rId20" Type="http://schemas.openxmlformats.org/officeDocument/2006/relationships/hyperlink" Target="https://cityofpetaluma.org/wildfire-faqs/" TargetMode="External"/><Relationship Id="rId29" Type="http://schemas.openxmlformats.org/officeDocument/2006/relationships/hyperlink" Target="https://www.worldvision.org/disaster-relief-news-stories/wildfires-facts-faqs-how-to-help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ucdavis.edu/climate/definitions/wildfire/8-wildfire-questions" TargetMode="External"/><Relationship Id="rId11" Type="http://schemas.openxmlformats.org/officeDocument/2006/relationships/hyperlink" Target="https://www.worldvision.org/disaster-relief-news-stories/california-fires-facts-faqs-how-to-help" TargetMode="External"/><Relationship Id="rId24" Type="http://schemas.openxmlformats.org/officeDocument/2006/relationships/hyperlink" Target="https://ndresponse.gov/wildfire-faq" TargetMode="External"/><Relationship Id="rId32" Type="http://schemas.openxmlformats.org/officeDocument/2006/relationships/hyperlink" Target="https://www.elementalfilm.com/faqs" TargetMode="External"/><Relationship Id="rId5" Type="http://schemas.openxmlformats.org/officeDocument/2006/relationships/hyperlink" Target="https://www.psu.edu/news/research/story/qa-causes-spread-and-solutions-californias-wildfire-crisis" TargetMode="External"/><Relationship Id="rId15" Type="http://schemas.openxmlformats.org/officeDocument/2006/relationships/hyperlink" Target="https://srhd.org/health-topics/environmental-health/wildfire-smoke/air-quality-wildfire-faq" TargetMode="External"/><Relationship Id="rId23" Type="http://schemas.openxmlformats.org/officeDocument/2006/relationships/hyperlink" Target="http://publichealth.lacounty.gov/media/wildfire/faq.htm" TargetMode="External"/><Relationship Id="rId28" Type="http://schemas.openxmlformats.org/officeDocument/2006/relationships/hyperlink" Target="https://www.dir.ca.gov/dosh/wildfire/wildfire-faq.html" TargetMode="External"/><Relationship Id="rId10" Type="http://schemas.openxmlformats.org/officeDocument/2006/relationships/hyperlink" Target="https://azdeq.gov/wildfire-faqs" TargetMode="External"/><Relationship Id="rId19" Type="http://schemas.openxmlformats.org/officeDocument/2006/relationships/hyperlink" Target="https://vifr.org/wildland-fire-safety/" TargetMode="External"/><Relationship Id="rId31" Type="http://schemas.openxmlformats.org/officeDocument/2006/relationships/hyperlink" Target="https://help.firststreet.org/hc/en-us/articles/5720773111063-Community-Wildfire-Risk-FAQ" TargetMode="External"/><Relationship Id="rId4" Type="http://schemas.openxmlformats.org/officeDocument/2006/relationships/hyperlink" Target="https://nhmu.utah.edu/sites/default/files/attachments/Wildfire%20FAQs.pdf" TargetMode="External"/><Relationship Id="rId9" Type="http://schemas.openxmlformats.org/officeDocument/2006/relationships/hyperlink" Target="https://www.montecitofire.com/wildfire-prevention-preparedness-frequently-asked-questions" TargetMode="External"/><Relationship Id="rId14" Type="http://schemas.openxmlformats.org/officeDocument/2006/relationships/hyperlink" Target="https://www.aspenfire.com/wildfire-faq" TargetMode="External"/><Relationship Id="rId22" Type="http://schemas.openxmlformats.org/officeDocument/2006/relationships/hyperlink" Target="https://www.pa.gov/agencies/dcnr/programs-and-services/community-outreach-and-development/wildfire" TargetMode="External"/><Relationship Id="rId27" Type="http://schemas.openxmlformats.org/officeDocument/2006/relationships/hyperlink" Target="https://www.cawildfirefund.com/sites/wildfire/files/documents/2025/cwf-media-explainer-terms-and-questions-march-2025.pdf" TargetMode="External"/><Relationship Id="rId30" Type="http://schemas.openxmlformats.org/officeDocument/2006/relationships/hyperlink" Target="https://permitsonoma.org/wildfireadapted-faq" TargetMode="External"/><Relationship Id="rId8" Type="http://schemas.openxmlformats.org/officeDocument/2006/relationships/hyperlink" Target="https://dec.alaska.gov/air/smoke-faq/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EB441-2A26-0500-A798-E95422C0F0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B2BC23-2145-2430-0D7A-80880C2E45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3280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7AFA57-146A-A112-967F-E1DC246EF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4968"/>
          </a:xfrm>
        </p:spPr>
        <p:txBody>
          <a:bodyPr>
            <a:normAutofit fontScale="90000"/>
          </a:bodyPr>
          <a:lstStyle/>
          <a:p>
            <a:r>
              <a:rPr lang="en-US" dirty="0"/>
              <a:t>Wildfire Q and A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8DEDF-0A15-7AB5-3C8D-C2D9825B7B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9581"/>
            <a:ext cx="4743893" cy="5007382"/>
          </a:xfrm>
        </p:spPr>
        <p:txBody>
          <a:bodyPr>
            <a:normAutofit fontScale="92500" lnSpcReduction="10000"/>
          </a:bodyPr>
          <a:lstStyle/>
          <a:p>
            <a:pPr>
              <a:spcBef>
                <a:spcPts val="600"/>
              </a:spcBef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https://www.nfpa.org/news-blogs-and-articles/blogs/2025/01/15/los-angeles-wildfires-frequently-asked-questions</a:t>
            </a: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https://lao.ca.gov/Publications/Report/4952</a:t>
            </a: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https://nhmu.utah.edu/sites/default/files/attachments/Wildfire%20FAQs.pdf</a:t>
            </a: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https://www.psu.edu/news/research/story/qa-causes-spread-and-solutions-californias-wildfire-crisis</a:t>
            </a: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https://www.ucdavis.edu/climate/definitions/wildfire/8-wildfire-questions</a:t>
            </a: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https://hsph.harvard.edu/environmental-health/news/health-impacts-of-wildfires-frequently-asked-questions/</a:t>
            </a: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https://dec.alaska.gov/air/smoke-faq/</a:t>
            </a: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https://www.montecitofire.com/wildfire-prevention-preparedness-frequently-asked-questions</a:t>
            </a: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https://azdeq.gov/wildfire-faqs</a:t>
            </a: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https://www.worldvision.org/disaster-relief-news-stories/california-fires-facts-faqs-how-to-help</a:t>
            </a: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https://sharedsystems.dhsoha.state.or.us/DHSForms/Served/le8626.pdf</a:t>
            </a: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https://wildfirepartners.org/general-faq/</a:t>
            </a: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https://www.aspenfire.com/wildfire-faq</a:t>
            </a: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https://srhd.org/health-topics/environmental-health/wildfire-smoke/air-quality-wildfire-faq</a:t>
            </a: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hlinkClick r:id="rId1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https://www.pscleanair.gov/m/faq?cat=32</a:t>
            </a: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hlinkClick r:id="rId1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https://theodorepayne.org/wildfire-faq/</a:t>
            </a: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hlinkClick r:id="rId1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https://extension.oregonstate.edu/catalog/em-9193-fire-faqs-managing-wildfire-resource-benefit</a:t>
            </a: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600"/>
              </a:spcBef>
            </a:pPr>
            <a:endParaRPr lang="en-US" sz="1200" dirty="0"/>
          </a:p>
          <a:p>
            <a:pPr>
              <a:spcBef>
                <a:spcPts val="600"/>
              </a:spcBef>
            </a:pP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72BCC7-BD8D-522E-62A7-6FB69F64145E}"/>
              </a:ext>
            </a:extLst>
          </p:cNvPr>
          <p:cNvSpPr txBox="1"/>
          <p:nvPr/>
        </p:nvSpPr>
        <p:spPr>
          <a:xfrm>
            <a:off x="5709684" y="1169581"/>
            <a:ext cx="5644116" cy="58939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hlinkClick r:id="rId1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https://vifr.org/wildland-fire-safety/</a:t>
            </a: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hlinkClick r:id="rId2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https://cityofpetaluma.org/wildfire-faqs/</a:t>
            </a: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hlinkClick r:id="rId2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https://www.wildfirela.org/2025/01/17/before-you-can-go-home-after-the-fires/</a:t>
            </a: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hlinkClick r:id="rId2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https://www.pa.gov/agencies/dcnr/programs-and-services/community-outreach-and-development/wildfire</a:t>
            </a: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hlinkClick r:id="rId2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http://publichealth.lacounty.gov/media/wildfire/faq.htm</a:t>
            </a: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hlinkClick r:id="rId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https://ndresponse.gov/wildfire-faq</a:t>
            </a: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hlinkClick r:id="rId2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https://coloradosprings.gov/WildfireReady</a:t>
            </a: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hlinkClick r:id="rId2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https://des.mt.gov/Preparedness/Wildfire-Season-Resources</a:t>
            </a: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hlinkClick r:id="rId27"/>
              </a:rPr>
              <a:t>https://www.cawildfirefund.com/sites/wildfire/files/documents/2025/cwf-media-explainer-terms-and-questions-march-2025.pdf</a:t>
            </a:r>
            <a:endParaRPr lang="en-US" sz="12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hlinkClick r:id="rId28"/>
              </a:rPr>
              <a:t>https://www.dir.ca.gov/dosh/wildfire/wildfire-faq.html</a:t>
            </a:r>
            <a:endParaRPr lang="en-US" sz="12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hlinkClick r:id="rId29"/>
              </a:rPr>
              <a:t>https://www.worldvision.org/disaster-relief-news-stories/wildfires-facts-faqs-how-to-help</a:t>
            </a:r>
            <a:endParaRPr lang="en-US" sz="12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hlinkClick r:id="rId30"/>
              </a:rPr>
              <a:t>https://permitsonoma.org/wildfireadapted-faq</a:t>
            </a:r>
            <a:endParaRPr lang="en-US" sz="12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hlinkClick r:id="rId31"/>
              </a:rPr>
              <a:t>https://help.firststreet.org/hc/en-us/articles/5720773111063-Community-Wildfire-Risk-FAQ</a:t>
            </a:r>
            <a:endParaRPr lang="en-US" sz="12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hlinkClick r:id="rId32"/>
              </a:rPr>
              <a:t>https://www.elementalfilm.com/faqs</a:t>
            </a:r>
            <a:endParaRPr lang="en-US" sz="12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hlinkClick r:id="rId33"/>
              </a:rPr>
              <a:t>file:///Users/meenuravi/Downloads/wildfire-smoke-faq-pdf-en.pdf</a:t>
            </a:r>
            <a:endParaRPr lang="en-US" sz="12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996391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1566D-8A9F-3C91-62E6-BE6A1A9BD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22B59-2FE1-25E4-98DA-EB0C096864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can we measure the impact of geographic granularity in geospatial Q and A?</a:t>
            </a:r>
          </a:p>
          <a:p>
            <a:r>
              <a:rPr lang="en-US" dirty="0"/>
              <a:t>What is the most accuracy and effective method of measuring geographic granularity uncertainty</a:t>
            </a:r>
          </a:p>
          <a:p>
            <a:r>
              <a:rPr lang="en-US" dirty="0"/>
              <a:t>Is this new UE method more effective than baselines? If so, how much better?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473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540F7-11B6-AC68-7FA0-B1F152D26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WildfireGPT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65F8F43-87B7-ACD5-E596-F16FF69699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2997" y="3563815"/>
            <a:ext cx="5232878" cy="261314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C2A851-DD3D-B40E-3874-54369BE36D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0508" y="90687"/>
            <a:ext cx="5605585" cy="33383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F59E922-1836-CE26-2F65-D3BCFAE553AD}"/>
              </a:ext>
            </a:extLst>
          </p:cNvPr>
          <p:cNvSpPr txBox="1"/>
          <p:nvPr/>
        </p:nvSpPr>
        <p:spPr>
          <a:xfrm>
            <a:off x="5806831" y="3703438"/>
            <a:ext cx="616217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Wildfire related Q and A RAG system for the public (rather than public officials)</a:t>
            </a:r>
          </a:p>
          <a:p>
            <a:pPr marL="285750" indent="-285750">
              <a:buFontTx/>
              <a:buChar char="-"/>
            </a:pPr>
            <a:r>
              <a:rPr lang="en-US" dirty="0"/>
              <a:t>Normal LLM may grab info from reddit or unofficial sources</a:t>
            </a:r>
          </a:p>
          <a:p>
            <a:pPr marL="285750" indent="-285750">
              <a:buFontTx/>
              <a:buChar char="-"/>
            </a:pPr>
            <a:r>
              <a:rPr lang="en-US" dirty="0"/>
              <a:t>RAG with guidelines helps ground answers to authoritative sources</a:t>
            </a:r>
          </a:p>
          <a:p>
            <a:pPr marL="285750" indent="-285750">
              <a:buFontTx/>
              <a:buChar char="-"/>
            </a:pPr>
            <a:r>
              <a:rPr lang="en-US" b="1" dirty="0"/>
              <a:t>Location aware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Sometimes no guidelines or relevant passages about a specific location so how can we still offer response but make it clear/known to user- give a trustworthy index or score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30C54A-EC92-3774-CE1C-EE9CB76001B5}"/>
              </a:ext>
            </a:extLst>
          </p:cNvPr>
          <p:cNvSpPr txBox="1"/>
          <p:nvPr/>
        </p:nvSpPr>
        <p:spPr>
          <a:xfrm>
            <a:off x="494820" y="1492738"/>
            <a:ext cx="468923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Existing large language models (LLMs) struggle to provide specific and actionable information to the general public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often generating responses that lack grounding in authoritative sources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provide generalized advice unsuitable for specific crises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suggest unreliable resource locators.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many decision support systems are catered towards professionals with domain knowledge.</a:t>
            </a:r>
          </a:p>
        </p:txBody>
      </p:sp>
    </p:spTree>
    <p:extLst>
      <p:ext uri="{BB962C8B-B14F-4D97-AF65-F5344CB8AC3E}">
        <p14:creationId xmlns:p14="http://schemas.microsoft.com/office/powerpoint/2010/main" val="1553744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81B94-8034-6A3B-9A08-63C826507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Geographical uncertainty quantification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587B0-8EDD-2A4A-939B-B23B3E1E88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Geographic granularity is still underexplored dimension of RAG uncertainty measures</a:t>
            </a:r>
          </a:p>
          <a:p>
            <a:pPr lvl="1"/>
            <a:r>
              <a:rPr lang="en-US" dirty="0"/>
              <a:t>Simple distance-based scoring may be insufficient</a:t>
            </a:r>
          </a:p>
          <a:p>
            <a:pPr lvl="2"/>
            <a:r>
              <a:rPr lang="en-US" dirty="0"/>
              <a:t>You can’t just retrieve sources and assume high confidence</a:t>
            </a:r>
          </a:p>
          <a:p>
            <a:pPr lvl="1"/>
            <a:r>
              <a:rPr lang="en-US" dirty="0"/>
              <a:t>Add environmental context similarity</a:t>
            </a:r>
          </a:p>
          <a:p>
            <a:pPr lvl="1"/>
            <a:r>
              <a:rPr lang="en-US" dirty="0"/>
              <a:t>If no documents exist at the city/county level, the RAG should retrieve documents from broader levels and lower its confidence proportionally and vice versa.</a:t>
            </a:r>
          </a:p>
          <a:p>
            <a:r>
              <a:rPr lang="en-US" dirty="0"/>
              <a:t>Query-dependent geographical similarity scoring for RAG uncertainty</a:t>
            </a:r>
          </a:p>
          <a:p>
            <a:pPr lvl="1"/>
            <a:r>
              <a:rPr lang="en-US" dirty="0"/>
              <a:t>Understand how RAG systems assess retrieved passage relevance</a:t>
            </a:r>
          </a:p>
          <a:p>
            <a:pPr lvl="1"/>
            <a:endParaRPr lang="en-US" b="1" dirty="0"/>
          </a:p>
          <a:p>
            <a:r>
              <a:rPr lang="en-US" dirty="0"/>
              <a:t>The dataset - wildfire Q&amp;A benchmark with spatial metadata attached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729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60EF7-DDCC-755E-36C2-2CA160934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8A151-E08B-388A-7BF3-EAB3DD2490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Compile a more expansive dataset of geographic related wildfire QA</a:t>
            </a:r>
          </a:p>
          <a:p>
            <a:r>
              <a:rPr lang="en-US" dirty="0"/>
              <a:t>Identify best method of extracting locations from passages</a:t>
            </a:r>
          </a:p>
          <a:p>
            <a:r>
              <a:rPr lang="en-US" dirty="0"/>
              <a:t>Label questions based on type of question (i.e., policy, health, informational etc.)</a:t>
            </a:r>
          </a:p>
          <a:p>
            <a:pPr lvl="1"/>
            <a:r>
              <a:rPr lang="en-US" dirty="0"/>
              <a:t>Some questions like evacuation packing list is same is all locations</a:t>
            </a:r>
          </a:p>
          <a:p>
            <a:r>
              <a:rPr lang="en-US" dirty="0"/>
              <a:t>Identify baseline UE measures</a:t>
            </a:r>
          </a:p>
          <a:p>
            <a:r>
              <a:rPr lang="en-US" dirty="0"/>
              <a:t>Identify and come up ideas for best UE measures</a:t>
            </a:r>
          </a:p>
          <a:p>
            <a:r>
              <a:rPr lang="en-US" dirty="0"/>
              <a:t>Identify ways for accounting for sibling relations- different county within same </a:t>
            </a:r>
          </a:p>
          <a:p>
            <a:r>
              <a:rPr lang="en-US" dirty="0"/>
              <a:t>Maybe doing administrative hierarchy for policy questions and geographic uncertainty for other questions</a:t>
            </a:r>
          </a:p>
        </p:txBody>
      </p:sp>
    </p:spTree>
    <p:extLst>
      <p:ext uri="{BB962C8B-B14F-4D97-AF65-F5344CB8AC3E}">
        <p14:creationId xmlns:p14="http://schemas.microsoft.com/office/powerpoint/2010/main" val="40800098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51C76-3981-E6E8-9AE7-9300E12CC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2152C8-FBE3-3852-2196-57E0110D19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Look at existing geo tagging methods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3757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54390</TotalTime>
  <Words>742</Words>
  <Application>Microsoft Macintosh PowerPoint</Application>
  <PresentationFormat>Widescreen</PresentationFormat>
  <Paragraphs>70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Wildfire Q and A Links</vt:lpstr>
      <vt:lpstr>Research Questions</vt:lpstr>
      <vt:lpstr>WildfireGPT</vt:lpstr>
      <vt:lpstr>Geographical uncertainty quantification</vt:lpstr>
      <vt:lpstr>Tasks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Meenu Ravi</dc:creator>
  <cp:lastModifiedBy>Meenu Ravi</cp:lastModifiedBy>
  <cp:revision>4</cp:revision>
  <dcterms:created xsi:type="dcterms:W3CDTF">2026-02-25T21:13:42Z</dcterms:created>
  <dcterms:modified xsi:type="dcterms:W3CDTF">2026-04-04T15:47:18Z</dcterms:modified>
</cp:coreProperties>
</file>